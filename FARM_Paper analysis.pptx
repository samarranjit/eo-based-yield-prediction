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charts/chart1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sldIdLst>
    <p:sldId id="273" r:id="rId6"/>
    <p:sldId id="274" r:id="rId7"/>
    <p:sldId id="275" r:id="rId8"/>
    <p:sldId id="276" r:id="rId9"/>
    <p:sldId id="277" r:id="rId10"/>
    <p:sldId id="283" r:id="rId11"/>
    <p:sldId id="278" r:id="rId12"/>
    <p:sldId id="279" r:id="rId13"/>
    <p:sldId id="280" r:id="rId14"/>
    <p:sldId id="281" r:id="rId15"/>
    <p:sldId id="271" r:id="rId16"/>
    <p:sldId id="28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C7D308-C0C8-084F-AFE5-49D780F8D81B}" v="4" dt="2026-06-16T05:35:10.5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3"/>
  </p:normalViewPr>
  <p:slideViewPr>
    <p:cSldViewPr snapToGrid="0">
      <p:cViewPr>
        <p:scale>
          <a:sx n="74" d="100"/>
          <a:sy n="74" d="100"/>
        </p:scale>
        <p:origin x="2112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1F2933"/>
                </a:solidFill>
                <a:latin typeface="Georgia"/>
              </a:defRPr>
            </a:pPr>
            <a:r>
              <a:rPr lang="en-US" sz="1600" b="1">
                <a:solidFill>
                  <a:srgbClr val="1F2933"/>
                </a:solidFill>
                <a:latin typeface="Georgia"/>
              </a:rPr>
              <a:t>RMSE (standardized) and R² across baselines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RMSE</c:v>
          </c:tx>
          <c:spPr>
            <a:solidFill>
              <a:srgbClr val="2E4A66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2E4A66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3D-CNN</c:v>
              </c:pt>
              <c:pt idx="1">
                <c:v>DeepYield</c:v>
              </c:pt>
              <c:pt idx="2">
                <c:v>FARM</c:v>
              </c:pt>
            </c:strLit>
          </c:cat>
          <c:val>
            <c:numLit>
              <c:formatCode>General</c:formatCode>
              <c:ptCount val="3"/>
              <c:pt idx="0">
                <c:v>1.2851999999999999</c:v>
              </c:pt>
              <c:pt idx="1">
                <c:v>1.0322</c:v>
              </c:pt>
              <c:pt idx="2">
                <c:v>0.43680000000000002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19C-1F49-A59D-5E85303B72B8}"/>
            </c:ext>
          </c:extLst>
        </c:ser>
        <c:ser>
          <c:idx val="1"/>
          <c:order val="1"/>
          <c:tx>
            <c:v>R²</c:v>
          </c:tx>
          <c:spPr>
            <a:solidFill>
              <a:srgbClr val="5C7A52"/>
            </a:solidFill>
            <a:ln>
              <a:noFill/>
            </a:ln>
          </c:spPr>
          <c:invertIfNegative val="1"/>
          <c:dLbls>
            <c:dLbl>
              <c:idx val="0"/>
              <c:layout>
                <c:manualLayout>
                  <c:x val="1.3636363636363636E-2"/>
                  <c:y val="-3.225806451612903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EFF-DC49-87FC-829F0472320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5C7A5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3D-CNN</c:v>
              </c:pt>
              <c:pt idx="1">
                <c:v>DeepYield</c:v>
              </c:pt>
              <c:pt idx="2">
                <c:v>FARM</c:v>
              </c:pt>
            </c:strLit>
          </c:cat>
          <c:val>
            <c:numLit>
              <c:formatCode>General</c:formatCode>
              <c:ptCount val="3"/>
              <c:pt idx="0">
                <c:v>0.62480000000000002</c:v>
              </c:pt>
              <c:pt idx="1">
                <c:v>0.73229999999999995</c:v>
              </c:pt>
              <c:pt idx="2">
                <c:v>0.8105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019C-1F49-A59D-5E85303B72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F2933"/>
              </a:solidFill>
              <a:latin typeface="Calibri"/>
            </a:defRPr>
          </a:pPr>
          <a:endParaRPr lang="en-US"/>
        </a:p>
      </c:txPr>
    </c:legend>
    <c:plotVisOnly val="1"/>
    <c:dispBlanksAs val="zero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F995A-1F90-C966-28EF-4BFDC7E57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3E613D-3CDD-744F-E72E-08B0DBBBD9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C0237-C6DB-C683-0CD2-D0B3138B7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5A3D5-D773-E941-E3F7-EC8FA8699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467FD-551A-70AB-75E0-28BFB9D37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835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BC032-9711-7BF0-AA3F-97A5F79FC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AF573-F7FE-F29D-0C7D-ED3E95A9B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716E8-984C-C9A6-909B-18E000592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E62E2-7C07-1A99-3549-0955B61FD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4F97E-C307-8118-45B4-8081E09DE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32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D3847-BBC5-2024-B802-DFA276BFA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D91DB-460A-3BAF-5A0E-1DF652A0D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ED5D3-56DB-BFBD-E3AA-6F10521FF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4D79D-5EFA-9059-8E53-B7792B803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AC889-2DB3-3D05-559C-B484A773F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47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FC472-4625-C584-2BD3-D4526F67B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DBE86-FF3C-EE64-6954-187D22C08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9D32F6-8A0D-1933-9E41-8AA5A7D0D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4542D-5E34-C54D-581E-54AC6620C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74F1B-EE2A-93F9-91B5-B8FB4B8DD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EF80A-78D9-9816-546F-A66248974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709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68644-BE7F-EE65-B449-ED54C1980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D97B5-429A-1465-B1E3-71467EC4E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EE2D8-2270-BC93-7C27-C5A3DE727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57857E-B815-38FC-0E41-F5802BD114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62C2DB-89A1-1871-66EB-8A9699DB8A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82EA27-65DE-2E98-95BB-F0013ED85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654D5C-CE52-7DC4-77A7-27A57CC2D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9E2DF2-E126-14DE-6E52-1D969083D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492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CCB5-F51E-8FCB-3B1B-9FFB168A6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D51A8E-BFC9-6928-0631-0C6A52272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3259BC-89CA-3217-C0F4-FBEE08B34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59D1A-655A-7201-AC5F-AA30BE3D5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77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D5ABE2-E08D-1CA0-7B2E-4F2260AE2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9061A3-FD3B-4CE4-03C6-F878F1EDA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7AB69-A006-9064-FD56-B95FAA11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490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F44D3-1523-F364-6D28-2EC508A3C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B60D0-62CE-42EB-63CC-4A364ECAA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B42FE-86B8-15CF-93B0-57433402F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FE938-8924-6578-FD2B-43FE4C03B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5F85A-BA33-DE56-9D40-E2089233D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8F18F-A4FD-F155-81B6-645C7369D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450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C6C7C-A8FB-AD96-D45A-03B4B9540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8C0DC5-FD00-CC60-7976-5ABA295560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D3E27-D1CD-B878-DCAD-718730430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13FD97-FFB8-959D-5E63-EE478B796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E9256-1D96-476C-D4A8-B36A7EE79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60170-7D1E-599C-F0ED-8FC40531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569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87EA-470F-B23E-0361-F7C19760C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CD2FDE-C88F-E984-5B9D-43C5D2326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8D37A-ACD6-274C-DA69-CE0F09F3D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24400-678E-C09F-E9D1-3D3543481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9896E-26EF-9F88-BDD0-93453131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193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2FD276-7503-7B46-ABB3-0ED07A5607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EF267A-439D-EF7B-EE51-3FAB9A3E4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20BE4-AB11-7940-5325-69277A52F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DDED9-7D7D-F63A-DD7E-84F3DA693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B6629-0570-A12B-486D-A663E4AF9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586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F995A-1F90-C966-28EF-4BFDC7E57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3E613D-3CDD-744F-E72E-08B0DBBBD9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C0237-C6DB-C683-0CD2-D0B3138B7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5A3D5-D773-E941-E3F7-EC8FA8699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467FD-551A-70AB-75E0-28BFB9D37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8350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BC032-9711-7BF0-AA3F-97A5F79FC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AF573-F7FE-F29D-0C7D-ED3E95A9B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716E8-984C-C9A6-909B-18E000592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E62E2-7C07-1A99-3549-0955B61FD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4F97E-C307-8118-45B4-8081E09DE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327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D3847-BBC5-2024-B802-DFA276BFA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D91DB-460A-3BAF-5A0E-1DF652A0D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ED5D3-56DB-BFBD-E3AA-6F10521FF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4D79D-5EFA-9059-8E53-B7792B803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AC889-2DB3-3D05-559C-B484A773F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477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FC472-4625-C584-2BD3-D4526F67B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DBE86-FF3C-EE64-6954-187D22C08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9D32F6-8A0D-1933-9E41-8AA5A7D0D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4542D-5E34-C54D-581E-54AC6620C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74F1B-EE2A-93F9-91B5-B8FB4B8DD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EF80A-78D9-9816-546F-A66248974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709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68644-BE7F-EE65-B449-ED54C1980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D97B5-429A-1465-B1E3-71467EC4E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EE2D8-2270-BC93-7C27-C5A3DE727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57857E-B815-38FC-0E41-F5802BD114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62C2DB-89A1-1871-66EB-8A9699DB8A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82EA27-65DE-2E98-95BB-F0013ED85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654D5C-CE52-7DC4-77A7-27A57CC2D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9E2DF2-E126-14DE-6E52-1D969083D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4924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CCB5-F51E-8FCB-3B1B-9FFB168A6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D51A8E-BFC9-6928-0631-0C6A52272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3259BC-89CA-3217-C0F4-FBEE08B34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59D1A-655A-7201-AC5F-AA30BE3D5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772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D5ABE2-E08D-1CA0-7B2E-4F2260AE2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9061A3-FD3B-4CE4-03C6-F878F1EDA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7AB69-A006-9064-FD56-B95FAA11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4908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F44D3-1523-F364-6D28-2EC508A3C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B60D0-62CE-42EB-63CC-4A364ECAA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B42FE-86B8-15CF-93B0-57433402F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FE938-8924-6578-FD2B-43FE4C03B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5F85A-BA33-DE56-9D40-E2089233D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8F18F-A4FD-F155-81B6-645C7369D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450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C6C7C-A8FB-AD96-D45A-03B4B9540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8C0DC5-FD00-CC60-7976-5ABA295560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D3E27-D1CD-B878-DCAD-718730430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13FD97-FFB8-959D-5E63-EE478B796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E9256-1D96-476C-D4A8-B36A7EE79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60170-7D1E-599C-F0ED-8FC40531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5692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87EA-470F-B23E-0361-F7C19760C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CD2FDE-C88F-E984-5B9D-43C5D2326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8D37A-ACD6-274C-DA69-CE0F09F3D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24400-678E-C09F-E9D1-3D3543481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9896E-26EF-9F88-BDD0-93453131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1938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2FD276-7503-7B46-ABB3-0ED07A5607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EF267A-439D-EF7B-EE51-3FAB9A3E4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20BE4-AB11-7940-5325-69277A52F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DDED9-7D7D-F63A-DD7E-84F3DA693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B6629-0570-A12B-486D-A663E4AF9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5864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F995A-1F90-C966-28EF-4BFDC7E57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3E613D-3CDD-744F-E72E-08B0DBBBD9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C0237-C6DB-C683-0CD2-D0B3138B7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5A3D5-D773-E941-E3F7-EC8FA8699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467FD-551A-70AB-75E0-28BFB9D37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8350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BC032-9711-7BF0-AA3F-97A5F79FC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AF573-F7FE-F29D-0C7D-ED3E95A9B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716E8-984C-C9A6-909B-18E000592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E62E2-7C07-1A99-3549-0955B61FD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4F97E-C307-8118-45B4-8081E09DE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327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D3847-BBC5-2024-B802-DFA276BFA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D91DB-460A-3BAF-5A0E-1DF652A0D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ED5D3-56DB-BFBD-E3AA-6F10521FF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4D79D-5EFA-9059-8E53-B7792B803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AC889-2DB3-3D05-559C-B484A773F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477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FC472-4625-C584-2BD3-D4526F67B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DBE86-FF3C-EE64-6954-187D22C08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9D32F6-8A0D-1933-9E41-8AA5A7D0D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4542D-5E34-C54D-581E-54AC6620C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74F1B-EE2A-93F9-91B5-B8FB4B8DD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EF80A-78D9-9816-546F-A66248974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7099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68644-BE7F-EE65-B449-ED54C1980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D97B5-429A-1465-B1E3-71467EC4E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EE2D8-2270-BC93-7C27-C5A3DE727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57857E-B815-38FC-0E41-F5802BD114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62C2DB-89A1-1871-66EB-8A9699DB8A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82EA27-65DE-2E98-95BB-F0013ED85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654D5C-CE52-7DC4-77A7-27A57CC2D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9E2DF2-E126-14DE-6E52-1D969083D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4924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CCB5-F51E-8FCB-3B1B-9FFB168A6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D51A8E-BFC9-6928-0631-0C6A52272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3259BC-89CA-3217-C0F4-FBEE08B34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59D1A-655A-7201-AC5F-AA30BE3D5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772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D5ABE2-E08D-1CA0-7B2E-4F2260AE2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9061A3-FD3B-4CE4-03C6-F878F1EDA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7AB69-A006-9064-FD56-B95FAA11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4908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F44D3-1523-F364-6D28-2EC508A3C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B60D0-62CE-42EB-63CC-4A364ECAA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B42FE-86B8-15CF-93B0-57433402F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FE938-8924-6578-FD2B-43FE4C03B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5F85A-BA33-DE56-9D40-E2089233D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8F18F-A4FD-F155-81B6-645C7369D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4507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C6C7C-A8FB-AD96-D45A-03B4B9540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8C0DC5-FD00-CC60-7976-5ABA295560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D3E27-D1CD-B878-DCAD-718730430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13FD97-FFB8-959D-5E63-EE478B796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E9256-1D96-476C-D4A8-B36A7EE79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60170-7D1E-599C-F0ED-8FC40531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5692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87EA-470F-B23E-0361-F7C19760C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CD2FDE-C88F-E984-5B9D-43C5D2326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8D37A-ACD6-274C-DA69-CE0F09F3D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24400-678E-C09F-E9D1-3D3543481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9896E-26EF-9F88-BDD0-93453131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19388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2FD276-7503-7B46-ABB3-0ED07A5607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EF267A-439D-EF7B-EE51-3FAB9A3E4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20BE4-AB11-7940-5325-69277A52F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DDED9-7D7D-F63A-DD7E-84F3DA693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B6629-0570-A12B-486D-A663E4AF9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5864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F995A-1F90-C966-28EF-4BFDC7E57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3E613D-3CDD-744F-E72E-08B0DBBBD9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C0237-C6DB-C683-0CD2-D0B3138B7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5A3D5-D773-E941-E3F7-EC8FA8699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467FD-551A-70AB-75E0-28BFB9D37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83504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BC032-9711-7BF0-AA3F-97A5F79FC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AF573-F7FE-F29D-0C7D-ED3E95A9B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716E8-984C-C9A6-909B-18E000592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E62E2-7C07-1A99-3549-0955B61FD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4F97E-C307-8118-45B4-8081E09DE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327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D3847-BBC5-2024-B802-DFA276BFA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D91DB-460A-3BAF-5A0E-1DF652A0D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ED5D3-56DB-BFBD-E3AA-6F10521FF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4D79D-5EFA-9059-8E53-B7792B803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AC889-2DB3-3D05-559C-B484A773F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477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FC472-4625-C584-2BD3-D4526F67B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DBE86-FF3C-EE64-6954-187D22C08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9D32F6-8A0D-1933-9E41-8AA5A7D0D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4542D-5E34-C54D-581E-54AC6620C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74F1B-EE2A-93F9-91B5-B8FB4B8DD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EF80A-78D9-9816-546F-A66248974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70992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68644-BE7F-EE65-B449-ED54C1980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D97B5-429A-1465-B1E3-71467EC4E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EE2D8-2270-BC93-7C27-C5A3DE727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57857E-B815-38FC-0E41-F5802BD114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62C2DB-89A1-1871-66EB-8A9699DB8A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82EA27-65DE-2E98-95BB-F0013ED85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654D5C-CE52-7DC4-77A7-27A57CC2D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9E2DF2-E126-14DE-6E52-1D969083D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4924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CCB5-F51E-8FCB-3B1B-9FFB168A6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D51A8E-BFC9-6928-0631-0C6A52272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3259BC-89CA-3217-C0F4-FBEE08B34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59D1A-655A-7201-AC5F-AA30BE3D5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772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D5ABE2-E08D-1CA0-7B2E-4F2260AE2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9061A3-FD3B-4CE4-03C6-F878F1EDA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7AB69-A006-9064-FD56-B95FAA11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49084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F44D3-1523-F364-6D28-2EC508A3C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B60D0-62CE-42EB-63CC-4A364ECAA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B42FE-86B8-15CF-93B0-57433402F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FE938-8924-6578-FD2B-43FE4C03B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5F85A-BA33-DE56-9D40-E2089233D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8F18F-A4FD-F155-81B6-645C7369D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45074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C6C7C-A8FB-AD96-D45A-03B4B9540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8C0DC5-FD00-CC60-7976-5ABA295560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D3E27-D1CD-B878-DCAD-718730430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13FD97-FFB8-959D-5E63-EE478B796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E9256-1D96-476C-D4A8-B36A7EE79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60170-7D1E-599C-F0ED-8FC40531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5692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87EA-470F-B23E-0361-F7C19760C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CD2FDE-C88F-E984-5B9D-43C5D2326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8D37A-ACD6-274C-DA69-CE0F09F3D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24400-678E-C09F-E9D1-3D3543481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9896E-26EF-9F88-BDD0-93453131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19388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2FD276-7503-7B46-ABB3-0ED07A5607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EF267A-439D-EF7B-EE51-3FAB9A3E4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20BE4-AB11-7940-5325-69277A52F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DDED9-7D7D-F63A-DD7E-84F3DA693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B6629-0570-A12B-486D-A663E4AF9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5864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F995A-1F90-C966-28EF-4BFDC7E57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Georgia"/>
              </a:defRPr>
            </a:lvl1pPr>
          </a:lstStyle>
          <a:p>
            <a:r>
              <a:rPr lang="en-US">
                <a:latin typeface="Georgia"/>
              </a:rP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3E613D-3CDD-744F-E72E-08B0DBBBD9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C0237-C6DB-C683-0CD2-D0B3138B7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5A3D5-D773-E941-E3F7-EC8FA8699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467FD-551A-70AB-75E0-28BFB9D37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83504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BC032-9711-7BF0-AA3F-97A5F79FC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rgia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AF573-F7FE-F29D-0C7D-ED3E95A9B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716E8-984C-C9A6-909B-18E000592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E62E2-7C07-1A99-3549-0955B61FD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4F97E-C307-8118-45B4-8081E09DE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327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D3847-BBC5-2024-B802-DFA276BFA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Georgia"/>
              </a:defRPr>
            </a:lvl1pPr>
          </a:lstStyle>
          <a:p>
            <a:r>
              <a:rPr lang="en-US">
                <a:latin typeface="Georgia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D91DB-460A-3BAF-5A0E-1DF652A0D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ED5D3-56DB-BFBD-E3AA-6F10521FF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4D79D-5EFA-9059-8E53-B7792B803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AC889-2DB3-3D05-559C-B484A773F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4772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FC472-4625-C584-2BD3-D4526F67B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rgia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DBE86-FF3C-EE64-6954-187D22C08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9D32F6-8A0D-1933-9E41-8AA5A7D0D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4542D-5E34-C54D-581E-54AC6620C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74F1B-EE2A-93F9-91B5-B8FB4B8DD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EF80A-78D9-9816-546F-A66248974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7099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68644-BE7F-EE65-B449-ED54C1980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>
                <a:latin typeface="Georgia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D97B5-429A-1465-B1E3-71467EC4E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EE2D8-2270-BC93-7C27-C5A3DE727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57857E-B815-38FC-0E41-F5802BD114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62C2DB-89A1-1871-66EB-8A9699DB8A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82EA27-65DE-2E98-95BB-F0013ED85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654D5C-CE52-7DC4-77A7-27A57CC2D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9E2DF2-E126-14DE-6E52-1D969083D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4924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CCB5-F51E-8FCB-3B1B-9FFB168A6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rgia"/>
              </a:rP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D51A8E-BFC9-6928-0631-0C6A52272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3259BC-89CA-3217-C0F4-FBEE08B34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59D1A-655A-7201-AC5F-AA30BE3D5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7722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D5ABE2-E08D-1CA0-7B2E-4F2260AE2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9061A3-FD3B-4CE4-03C6-F878F1EDA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7AB69-A006-9064-FD56-B95FAA11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49084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F44D3-1523-F364-6D28-2EC508A3C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Georgia"/>
              </a:defRPr>
            </a:lvl1pPr>
          </a:lstStyle>
          <a:p>
            <a:r>
              <a:rPr lang="en-US">
                <a:latin typeface="Georgia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B60D0-62CE-42EB-63CC-4A364ECAA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B42FE-86B8-15CF-93B0-57433402F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FE938-8924-6578-FD2B-43FE4C03B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5F85A-BA33-DE56-9D40-E2089233D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8F18F-A4FD-F155-81B6-645C7369D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45074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C6C7C-A8FB-AD96-D45A-03B4B9540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Georgia"/>
              </a:defRPr>
            </a:lvl1pPr>
          </a:lstStyle>
          <a:p>
            <a:r>
              <a:rPr lang="en-US">
                <a:latin typeface="Georgia"/>
              </a:rP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8C0DC5-FD00-CC60-7976-5ABA295560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D3E27-D1CD-B878-DCAD-718730430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13FD97-FFB8-959D-5E63-EE478B796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E9256-1D96-476C-D4A8-B36A7EE79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60170-7D1E-599C-F0ED-8FC40531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56922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87EA-470F-B23E-0361-F7C19760C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rgia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CD2FDE-C88F-E984-5B9D-43C5D2326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8D37A-ACD6-274C-DA69-CE0F09F3D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24400-678E-C09F-E9D1-3D3543481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9896E-26EF-9F88-BDD0-93453131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19388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2FD276-7503-7B46-ABB3-0ED07A5607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>
                <a:latin typeface="Georgia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EF267A-439D-EF7B-EE51-3FAB9A3E4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20BE4-AB11-7940-5325-69277A52F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DDED9-7D7D-F63A-DD7E-84F3DA693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B6629-0570-A12B-486D-A663E4AF9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586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A0AA4F-FD1B-FBE4-24F6-D9C669419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BE6EE-8148-0C1E-B37E-A1BE1C754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BE5F3-3EF3-91EC-288D-C054122643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32645-5C53-16D7-A866-9229A1F24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DAC4D-B6F4-A00D-9A7A-037F507A08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97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A0AA4F-FD1B-FBE4-24F6-D9C669419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BE6EE-8148-0C1E-B37E-A1BE1C754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BE5F3-3EF3-91EC-288D-C054122643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32645-5C53-16D7-A866-9229A1F24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DAC4D-B6F4-A00D-9A7A-037F507A08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 Bar"/>
          <p:cNvSpPr/>
          <p:nvPr userDrawn="1"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E4A6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Hairline"/>
          <p:cNvSpPr/>
          <p:nvPr userDrawn="1"/>
        </p:nvSpPr>
        <p:spPr>
          <a:xfrm>
            <a:off x="457200" y="6400800"/>
            <a:ext cx="8229600" cy="9525"/>
          </a:xfrm>
          <a:prstGeom prst="rect">
            <a:avLst/>
          </a:prstGeom>
          <a:solidFill>
            <a:srgbClr val="5C7A5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97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F293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F293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F293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F293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3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3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3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3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A0AA4F-FD1B-FBE4-24F6-D9C669419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BE6EE-8148-0C1E-B37E-A1BE1C754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BE5F3-3EF3-91EC-288D-C054122643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32645-5C53-16D7-A866-9229A1F24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DAC4D-B6F4-A00D-9A7A-037F507A08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97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A0AA4F-FD1B-FBE4-24F6-D9C669419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BE6EE-8148-0C1E-B37E-A1BE1C754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BE5F3-3EF3-91EC-288D-C054122643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32645-5C53-16D7-A866-9229A1F24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DAC4D-B6F4-A00D-9A7A-037F507A08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 Bar"/>
          <p:cNvSpPr/>
          <p:nvPr userDrawn="1"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E4A6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Hairline"/>
          <p:cNvSpPr/>
          <p:nvPr userDrawn="1"/>
        </p:nvSpPr>
        <p:spPr>
          <a:xfrm>
            <a:off x="457200" y="6400800"/>
            <a:ext cx="8229600" cy="9525"/>
          </a:xfrm>
          <a:prstGeom prst="rect">
            <a:avLst/>
          </a:prstGeom>
          <a:solidFill>
            <a:srgbClr val="5C7A5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97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F2933"/>
          </a:solidFill>
          <a:latin typeface="Georgia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F293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F293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F293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3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3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3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3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A0AA4F-FD1B-FBE4-24F6-D9C669419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latin typeface="Georgia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BE6EE-8148-0C1E-B37E-A1BE1C754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BE5F3-3EF3-91EC-288D-C054122643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5177B8-D0C7-784A-9ACB-4EFA430DCFF1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32645-5C53-16D7-A866-9229A1F24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DAC4D-B6F4-A00D-9A7A-037F507A08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9E4272-D167-1749-B1A2-1A814178D260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 Bar"/>
          <p:cNvSpPr/>
          <p:nvPr userDrawn="1"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E4A6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Hairline"/>
          <p:cNvSpPr/>
          <p:nvPr userDrawn="1"/>
        </p:nvSpPr>
        <p:spPr>
          <a:xfrm>
            <a:off x="457200" y="6400800"/>
            <a:ext cx="8229600" cy="9525"/>
          </a:xfrm>
          <a:prstGeom prst="rect">
            <a:avLst/>
          </a:prstGeom>
          <a:solidFill>
            <a:srgbClr val="5C7A5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97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F2933"/>
          </a:solidFill>
          <a:latin typeface="Georgia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F293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F293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F293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3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3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3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3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0F65C-7ED5-FBB6-8FB0-45C1C6858E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FARM: Crop Yield Prediction via Regression on Prithvi's Encoder for Satellite Sensing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96F041-21B0-33AA-3C75-A48B698790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Paper review — </a:t>
            </a:r>
            <a:r>
              <a:rPr lang="en-US" dirty="0" err="1"/>
              <a:t>Nejadshamsi</a:t>
            </a:r>
            <a:r>
              <a:rPr lang="en-US" dirty="0"/>
              <a:t> et al.
Fine-tuning a geospatial foundation model for intra-field canola yield mapping</a:t>
            </a:r>
          </a:p>
        </p:txBody>
      </p:sp>
    </p:spTree>
    <p:extLst>
      <p:ext uri="{BB962C8B-B14F-4D97-AF65-F5344CB8AC3E}">
        <p14:creationId xmlns:p14="http://schemas.microsoft.com/office/powerpoint/2010/main" val="13187873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83B83-871C-A225-C2D8-97EAA8A94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/>
              </a:rPr>
              <a:t>Paper at a glance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9131D3-4545-2944-AFE1-2C1C7FC73FD6}"/>
              </a:ext>
            </a:extLst>
          </p:cNvPr>
          <p:cNvSpPr/>
          <p:nvPr/>
        </p:nvSpPr>
        <p:spPr>
          <a:xfrm>
            <a:off x="749300" y="2032000"/>
            <a:ext cx="2540000" cy="1651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8E2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F2015B-116B-E34F-BD4D-7D2C9738CD1A}"/>
              </a:ext>
            </a:extLst>
          </p:cNvPr>
          <p:cNvSpPr/>
          <p:nvPr/>
        </p:nvSpPr>
        <p:spPr>
          <a:xfrm>
            <a:off x="749300" y="2032000"/>
            <a:ext cx="2540000" cy="50800"/>
          </a:xfrm>
          <a:prstGeom prst="rect">
            <a:avLst/>
          </a:prstGeom>
          <a:solidFill>
            <a:srgbClr val="2E4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399E58-DF77-B84C-894C-8A6CD1754CF2}"/>
              </a:ext>
            </a:extLst>
          </p:cNvPr>
          <p:cNvSpPr txBox="1"/>
          <p:nvPr/>
        </p:nvSpPr>
        <p:spPr>
          <a:xfrm>
            <a:off x="901700" y="2260600"/>
            <a:ext cx="2235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2E4A66"/>
                </a:solidFill>
                <a:latin typeface="Georgia"/>
              </a:rPr>
              <a:t>R² 0.81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0E2CE9-4A82-9B46-AC63-44EF14A559D4}"/>
              </a:ext>
            </a:extLst>
          </p:cNvPr>
          <p:cNvSpPr txBox="1"/>
          <p:nvPr/>
        </p:nvSpPr>
        <p:spPr>
          <a:xfrm>
            <a:off x="901700" y="2946400"/>
            <a:ext cx="2235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933"/>
                </a:solidFill>
                <a:latin typeface="Calibri"/>
                <a:cs typeface="Calibri"/>
              </a:rPr>
              <a:t>Pixel-level canola yield variance explained (val set)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CF8255-04B1-AF4A-B6BB-1EF20E126663}"/>
              </a:ext>
            </a:extLst>
          </p:cNvPr>
          <p:cNvSpPr/>
          <p:nvPr/>
        </p:nvSpPr>
        <p:spPr>
          <a:xfrm>
            <a:off x="3467100" y="2032000"/>
            <a:ext cx="2540000" cy="1651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8E2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29F9AF-F5E8-0D49-A96C-006963B061F0}"/>
              </a:ext>
            </a:extLst>
          </p:cNvPr>
          <p:cNvSpPr/>
          <p:nvPr/>
        </p:nvSpPr>
        <p:spPr>
          <a:xfrm>
            <a:off x="3467100" y="2032000"/>
            <a:ext cx="2540000" cy="50800"/>
          </a:xfrm>
          <a:prstGeom prst="rect">
            <a:avLst/>
          </a:prstGeom>
          <a:solidFill>
            <a:srgbClr val="5C7A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0E0F8A-1751-EF4F-B39A-49505C211BB3}"/>
              </a:ext>
            </a:extLst>
          </p:cNvPr>
          <p:cNvSpPr txBox="1"/>
          <p:nvPr/>
        </p:nvSpPr>
        <p:spPr>
          <a:xfrm>
            <a:off x="3619500" y="2260600"/>
            <a:ext cx="2235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5C7A52"/>
                </a:solidFill>
                <a:latin typeface="Georgia"/>
              </a:rPr>
              <a:t>208 kg/ha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5D6E27-3CB1-A740-93F6-ECE99E683B61}"/>
              </a:ext>
            </a:extLst>
          </p:cNvPr>
          <p:cNvSpPr txBox="1"/>
          <p:nvPr/>
        </p:nvSpPr>
        <p:spPr>
          <a:xfrm>
            <a:off x="3619500" y="2946400"/>
            <a:ext cx="2235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933"/>
                </a:solidFill>
                <a:latin typeface="Calibri"/>
                <a:cs typeface="Calibri"/>
              </a:rPr>
              <a:t>Best RMSE (de-standardized)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A44F03-F20E-1441-A988-73233422C1EC}"/>
              </a:ext>
            </a:extLst>
          </p:cNvPr>
          <p:cNvSpPr/>
          <p:nvPr/>
        </p:nvSpPr>
        <p:spPr>
          <a:xfrm>
            <a:off x="6184900" y="2032000"/>
            <a:ext cx="2540000" cy="1651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8E2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851277-5FE0-9644-A917-DD26C21D107B}"/>
              </a:ext>
            </a:extLst>
          </p:cNvPr>
          <p:cNvSpPr/>
          <p:nvPr/>
        </p:nvSpPr>
        <p:spPr>
          <a:xfrm>
            <a:off x="6184900" y="2032000"/>
            <a:ext cx="2540000" cy="50800"/>
          </a:xfrm>
          <a:prstGeom prst="rect">
            <a:avLst/>
          </a:prstGeom>
          <a:solidFill>
            <a:srgbClr val="B36A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BCEB12-CFB6-CB46-85AB-C6B9D9AE74E2}"/>
              </a:ext>
            </a:extLst>
          </p:cNvPr>
          <p:cNvSpPr txBox="1"/>
          <p:nvPr/>
        </p:nvSpPr>
        <p:spPr>
          <a:xfrm>
            <a:off x="6337300" y="2260600"/>
            <a:ext cx="2235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 dirty="0">
                <a:solidFill>
                  <a:srgbClr val="B36A3E"/>
                </a:solidFill>
                <a:latin typeface="Georgia"/>
              </a:rPr>
              <a:t>30 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ACE288-ECE8-4648-B703-40BAB4B21F85}"/>
              </a:ext>
            </a:extLst>
          </p:cNvPr>
          <p:cNvSpPr txBox="1"/>
          <p:nvPr/>
        </p:nvSpPr>
        <p:spPr>
          <a:xfrm>
            <a:off x="6337300" y="2946400"/>
            <a:ext cx="2235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933"/>
                </a:solidFill>
                <a:latin typeface="Calibri"/>
                <a:cs typeface="Calibri"/>
              </a:rPr>
              <a:t>Output resolution — intra-field pixel maps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28699F-CA8D-3646-8B62-390B90986BDC}"/>
              </a:ext>
            </a:extLst>
          </p:cNvPr>
          <p:cNvSpPr/>
          <p:nvPr/>
        </p:nvSpPr>
        <p:spPr>
          <a:xfrm>
            <a:off x="8902700" y="2032000"/>
            <a:ext cx="2540000" cy="1651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8E2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70879B-4F5E-2D49-A23E-97BDFD2453C4}"/>
              </a:ext>
            </a:extLst>
          </p:cNvPr>
          <p:cNvSpPr/>
          <p:nvPr/>
        </p:nvSpPr>
        <p:spPr>
          <a:xfrm>
            <a:off x="8902700" y="2032000"/>
            <a:ext cx="2540000" cy="50800"/>
          </a:xfrm>
          <a:prstGeom prst="rect">
            <a:avLst/>
          </a:prstGeom>
          <a:solidFill>
            <a:srgbClr val="4463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E0A44C-0967-F74E-948A-D8CBD8D1F614}"/>
              </a:ext>
            </a:extLst>
          </p:cNvPr>
          <p:cNvSpPr txBox="1"/>
          <p:nvPr/>
        </p:nvSpPr>
        <p:spPr>
          <a:xfrm>
            <a:off x="9055100" y="2260600"/>
            <a:ext cx="2235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446380"/>
                </a:solidFill>
                <a:latin typeface="Georgia"/>
              </a:rPr>
              <a:t>600 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4DD5AF-BA73-8747-ACAF-362F2EF7739F}"/>
              </a:ext>
            </a:extLst>
          </p:cNvPr>
          <p:cNvSpPr txBox="1"/>
          <p:nvPr/>
        </p:nvSpPr>
        <p:spPr>
          <a:xfrm>
            <a:off x="9055100" y="2946400"/>
            <a:ext cx="2235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933"/>
                </a:solidFill>
                <a:latin typeface="Calibri"/>
                <a:cs typeface="Calibri"/>
              </a:rPr>
              <a:t>Parameters in Prithvi-EO-2.0 encoder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7020EB-AB9B-CE40-BE2A-BB9E4994D234}"/>
              </a:ext>
            </a:extLst>
          </p:cNvPr>
          <p:cNvSpPr/>
          <p:nvPr/>
        </p:nvSpPr>
        <p:spPr>
          <a:xfrm>
            <a:off x="749300" y="4064000"/>
            <a:ext cx="10693400" cy="1905000"/>
          </a:xfrm>
          <a:prstGeom prst="rect">
            <a:avLst/>
          </a:prstGeom>
          <a:solidFill>
            <a:srgbClr val="EFEBE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FD908C-57AB-F04B-966B-FC1DBB2837A6}"/>
              </a:ext>
            </a:extLst>
          </p:cNvPr>
          <p:cNvSpPr txBox="1"/>
          <p:nvPr/>
        </p:nvSpPr>
        <p:spPr>
          <a:xfrm>
            <a:off x="1054100" y="42672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5C7A52"/>
                </a:solidFill>
                <a:latin typeface="Calibri"/>
                <a:cs typeface="Calibri"/>
              </a:rPr>
              <a:t>WHAT IT IS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ED7FC6-1B87-4B49-88F6-517C5DB8C84A}"/>
              </a:ext>
            </a:extLst>
          </p:cNvPr>
          <p:cNvSpPr txBox="1"/>
          <p:nvPr/>
        </p:nvSpPr>
        <p:spPr>
          <a:xfrm>
            <a:off x="1054100" y="4597400"/>
            <a:ext cx="100838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1F2933"/>
                </a:solidFill>
                <a:latin typeface="Calibri"/>
                <a:cs typeface="Calibri"/>
              </a:rPr>
              <a:t>FARM (Fine-tuning Agricultural Regression Models) adapts IBM/NASA's Prithvi-EO-2.0-600M Vision Transformer for a continuous pixel-level regression task, producing 30 m intra-field canola yield maps over the Canadian Prairies — bridging large-scale Earth-observation foundation models and on-farm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7879193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FE326-0B3A-DFBD-DF1E-BCEF955ED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rgia"/>
              </a:rPr>
              <a:t>Introduction — the gap FARM addresses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08BB7-DB4F-7846-9771-987F54AF0DEB}"/>
              </a:ext>
            </a:extLst>
          </p:cNvPr>
          <p:cNvSpPr txBox="1"/>
          <p:nvPr/>
        </p:nvSpPr>
        <p:spPr>
          <a:xfrm>
            <a:off x="762000" y="1905000"/>
            <a:ext cx="520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2E4A66"/>
                </a:solidFill>
                <a:latin typeface="Georgia"/>
              </a:rPr>
              <a:t>Why this problem matters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1C80FB-147B-FA49-801B-F10167A59304}"/>
              </a:ext>
            </a:extLst>
          </p:cNvPr>
          <p:cNvSpPr txBox="1"/>
          <p:nvPr/>
        </p:nvSpPr>
        <p:spPr>
          <a:xfrm>
            <a:off x="762000" y="2362200"/>
            <a:ext cx="5207000" cy="29027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lnSpc>
                <a:spcPts val="2000"/>
              </a:lnSpc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Yield forecasts underpin food security, government planning and farmer risk management.</a:t>
            </a:r>
          </a:p>
          <a:p>
            <a:pPr marL="228600" indent="-228600">
              <a:lnSpc>
                <a:spcPts val="2000"/>
              </a:lnSpc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Field surveys and process-based crop models are costly and don't scale across regions.</a:t>
            </a:r>
          </a:p>
          <a:p>
            <a:pPr marL="228600" indent="-228600">
              <a:lnSpc>
                <a:spcPts val="2000"/>
              </a:lnSpc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Sentinel-2 / Landsat EO now deliver continuous, high-quality crop observations.</a:t>
            </a:r>
          </a:p>
          <a:p>
            <a:pPr marL="228600" indent="-228600">
              <a:lnSpc>
                <a:spcPts val="2000"/>
              </a:lnSpc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CNN/RNN models capture nonlinear patterns but are trained on small task-specific sets.</a:t>
            </a:r>
          </a:p>
          <a:p>
            <a:pPr marL="228600" indent="-228600">
              <a:lnSpc>
                <a:spcPts val="2000"/>
              </a:lnSpc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ViTs &amp; geospatial foundation models (Prithvi-EO) now expose transferable Earth-system priors.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E1F028-2734-514A-A307-83ABCB067C6A}"/>
              </a:ext>
            </a:extLst>
          </p:cNvPr>
          <p:cNvSpPr txBox="1"/>
          <p:nvPr/>
        </p:nvSpPr>
        <p:spPr>
          <a:xfrm>
            <a:off x="6223000" y="1905000"/>
            <a:ext cx="520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5C7A52"/>
                </a:solidFill>
                <a:latin typeface="Georgia"/>
              </a:rPr>
              <a:t>Four gaps in prior 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8B0BFE-7667-DA44-9870-94A75FA6D431}"/>
              </a:ext>
            </a:extLst>
          </p:cNvPr>
          <p:cNvSpPr txBox="1"/>
          <p:nvPr/>
        </p:nvSpPr>
        <p:spPr>
          <a:xfrm>
            <a:off x="6223000" y="2362200"/>
            <a:ext cx="5207000" cy="222631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lnSpc>
                <a:spcPts val="1900"/>
              </a:lnSpc>
              <a:spcBef>
                <a:spcPts val="500"/>
              </a:spcBef>
              <a:buNone/>
            </a:pPr>
            <a:r>
              <a:rPr lang="en-US" sz="1500" b="1" dirty="0">
                <a:solidFill>
                  <a:srgbClr val="5C7A52"/>
                </a:solidFill>
              </a:rPr>
              <a:t>1. Trained from scratch </a:t>
            </a:r>
            <a:r>
              <a:rPr lang="en-US" sz="1500" dirty="0">
                <a:solidFill>
                  <a:srgbClr val="1F2933"/>
                </a:solidFill>
              </a:rPr>
              <a:t>on small agri datasets — forgo Earth-system priors.</a:t>
            </a:r>
          </a:p>
          <a:p>
            <a:pPr marL="0" indent="0">
              <a:lnSpc>
                <a:spcPts val="1900"/>
              </a:lnSpc>
              <a:spcBef>
                <a:spcPts val="500"/>
              </a:spcBef>
              <a:buNone/>
            </a:pPr>
            <a:r>
              <a:rPr lang="en-US" sz="1500" b="1" dirty="0">
                <a:solidFill>
                  <a:srgbClr val="5C7A52"/>
                </a:solidFill>
              </a:rPr>
              <a:t>2. County-level only </a:t>
            </a:r>
            <a:r>
              <a:rPr lang="en-US" sz="1500" dirty="0">
                <a:solidFill>
                  <a:srgbClr val="1F2933"/>
                </a:solidFill>
              </a:rPr>
              <a:t>useful regionally, blind to intra-field heterogeneity.</a:t>
            </a:r>
          </a:p>
          <a:p>
            <a:pPr marL="0" indent="0">
              <a:lnSpc>
                <a:spcPts val="1900"/>
              </a:lnSpc>
              <a:spcBef>
                <a:spcPts val="500"/>
              </a:spcBef>
              <a:buNone/>
            </a:pPr>
            <a:r>
              <a:rPr lang="en-US" sz="1500" b="1" dirty="0">
                <a:solidFill>
                  <a:srgbClr val="5C7A52"/>
                </a:solidFill>
              </a:rPr>
              <a:t>3. Framed as classification </a:t>
            </a:r>
            <a:r>
              <a:rPr lang="en-US" sz="1500" dirty="0">
                <a:solidFill>
                  <a:srgbClr val="1F2933"/>
                </a:solidFill>
              </a:rPr>
              <a:t>discrete bins lose continuous yield signal.</a:t>
            </a:r>
          </a:p>
          <a:p>
            <a:pPr marL="0" indent="0">
              <a:lnSpc>
                <a:spcPts val="1900"/>
              </a:lnSpc>
              <a:spcBef>
                <a:spcPts val="500"/>
              </a:spcBef>
              <a:buNone/>
            </a:pPr>
            <a:r>
              <a:rPr lang="en-US" sz="1500" b="1" dirty="0">
                <a:solidFill>
                  <a:srgbClr val="5C7A52"/>
                </a:solidFill>
              </a:rPr>
              <a:t>4. Black-box predictions </a:t>
            </a:r>
            <a:r>
              <a:rPr lang="en-US" sz="1500" dirty="0">
                <a:solidFill>
                  <a:srgbClr val="1F2933"/>
                </a:solidFill>
              </a:rPr>
              <a:t>no insight into which growth stages or bands drive them.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2C14D7-63FB-4E4E-A109-15AFA37988BF}"/>
              </a:ext>
            </a:extLst>
          </p:cNvPr>
          <p:cNvSpPr/>
          <p:nvPr/>
        </p:nvSpPr>
        <p:spPr>
          <a:xfrm>
            <a:off x="6083300" y="1955800"/>
            <a:ext cx="12700" cy="4419600"/>
          </a:xfrm>
          <a:prstGeom prst="rect">
            <a:avLst/>
          </a:prstGeom>
          <a:solidFill>
            <a:srgbClr val="C8C0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5249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A49C3-CF55-8729-BEF1-5AED15C37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rgia"/>
              </a:rPr>
              <a:t>Methodology —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8CC537-F70D-0A41-AB58-371ACD3BB120}"/>
              </a:ext>
            </a:extLst>
          </p:cNvPr>
          <p:cNvSpPr/>
          <p:nvPr/>
        </p:nvSpPr>
        <p:spPr>
          <a:xfrm>
            <a:off x="876300" y="1968500"/>
            <a:ext cx="2476500" cy="1206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6CFC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9C1256-75D7-6042-AB8A-E82FB3489741}"/>
              </a:ext>
            </a:extLst>
          </p:cNvPr>
          <p:cNvSpPr/>
          <p:nvPr/>
        </p:nvSpPr>
        <p:spPr>
          <a:xfrm>
            <a:off x="876300" y="1968500"/>
            <a:ext cx="38100" cy="1206500"/>
          </a:xfrm>
          <a:prstGeom prst="rect">
            <a:avLst/>
          </a:prstGeom>
          <a:solidFill>
            <a:srgbClr val="2E4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BE63EB-AEE8-304C-9E9A-CA0A57FA7138}"/>
              </a:ext>
            </a:extLst>
          </p:cNvPr>
          <p:cNvSpPr txBox="1"/>
          <p:nvPr/>
        </p:nvSpPr>
        <p:spPr>
          <a:xfrm>
            <a:off x="1028700" y="2044700"/>
            <a:ext cx="21717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2E4A66"/>
                </a:solidFill>
                <a:latin typeface="Calibri"/>
                <a:cs typeface="Calibri"/>
              </a:rPr>
              <a:t>Source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DE0FA5-923B-9E44-8FAC-58AA412AB612}"/>
              </a:ext>
            </a:extLst>
          </p:cNvPr>
          <p:cNvSpPr txBox="1"/>
          <p:nvPr/>
        </p:nvSpPr>
        <p:spPr>
          <a:xfrm>
            <a:off x="1028700" y="2298700"/>
            <a:ext cx="21717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F2933"/>
                </a:solidFill>
                <a:latin typeface="Calibri"/>
                <a:cs typeface="Calibri"/>
              </a:rPr>
              <a:t>Sentinel-2 (HLS),
Canadian Prairies
2018, 2019, 2020,
2022, 2023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C50DA093-89E8-1C40-A5A0-6AAE80449FE9}"/>
              </a:ext>
            </a:extLst>
          </p:cNvPr>
          <p:cNvSpPr/>
          <p:nvPr/>
        </p:nvSpPr>
        <p:spPr>
          <a:xfrm>
            <a:off x="3365500" y="2495550"/>
            <a:ext cx="152400" cy="152400"/>
          </a:xfrm>
          <a:prstGeom prst="rightArrow">
            <a:avLst/>
          </a:prstGeom>
          <a:solidFill>
            <a:srgbClr val="5C7A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B1415F-98CF-0646-A0BB-64296FE5D292}"/>
              </a:ext>
            </a:extLst>
          </p:cNvPr>
          <p:cNvSpPr/>
          <p:nvPr/>
        </p:nvSpPr>
        <p:spPr>
          <a:xfrm>
            <a:off x="3530600" y="1968500"/>
            <a:ext cx="2476500" cy="1206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6CFC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423943-7ABD-3640-AB3B-D59BD98DBF1A}"/>
              </a:ext>
            </a:extLst>
          </p:cNvPr>
          <p:cNvSpPr/>
          <p:nvPr/>
        </p:nvSpPr>
        <p:spPr>
          <a:xfrm>
            <a:off x="3530600" y="1968500"/>
            <a:ext cx="38100" cy="1206500"/>
          </a:xfrm>
          <a:prstGeom prst="rect">
            <a:avLst/>
          </a:prstGeom>
          <a:solidFill>
            <a:srgbClr val="2E4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F298F5-E639-BA42-90FD-C8A128CABF1B}"/>
              </a:ext>
            </a:extLst>
          </p:cNvPr>
          <p:cNvSpPr txBox="1"/>
          <p:nvPr/>
        </p:nvSpPr>
        <p:spPr>
          <a:xfrm>
            <a:off x="3683000" y="2044700"/>
            <a:ext cx="21717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2E4A66"/>
                </a:solidFill>
                <a:latin typeface="Calibri"/>
                <a:cs typeface="Calibri"/>
              </a:rPr>
              <a:t>Bands × time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B59EFA-F445-1242-888B-4C07BF1E6CBF}"/>
              </a:ext>
            </a:extLst>
          </p:cNvPr>
          <p:cNvSpPr txBox="1"/>
          <p:nvPr/>
        </p:nvSpPr>
        <p:spPr>
          <a:xfrm>
            <a:off x="3683000" y="2298700"/>
            <a:ext cx="21717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F2933"/>
                </a:solidFill>
                <a:latin typeface="Calibri"/>
                <a:cs typeface="Calibri"/>
              </a:rPr>
              <a:t>6 bands ×
5 monthly composites
(May → Sep)
Cloud filter &lt; 10%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2AAA032C-A2E6-E94A-8A78-3CBD8EB6DD93}"/>
              </a:ext>
            </a:extLst>
          </p:cNvPr>
          <p:cNvSpPr/>
          <p:nvPr/>
        </p:nvSpPr>
        <p:spPr>
          <a:xfrm>
            <a:off x="6019800" y="2495550"/>
            <a:ext cx="152400" cy="152400"/>
          </a:xfrm>
          <a:prstGeom prst="rightArrow">
            <a:avLst/>
          </a:prstGeom>
          <a:solidFill>
            <a:srgbClr val="5C7A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29A858-CAE4-7E4E-AA06-7DAB56E015A2}"/>
              </a:ext>
            </a:extLst>
          </p:cNvPr>
          <p:cNvSpPr/>
          <p:nvPr/>
        </p:nvSpPr>
        <p:spPr>
          <a:xfrm>
            <a:off x="6184900" y="1968500"/>
            <a:ext cx="2476500" cy="1206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6CFC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012220-64B4-9946-B1E0-BB93A0AE6DB9}"/>
              </a:ext>
            </a:extLst>
          </p:cNvPr>
          <p:cNvSpPr/>
          <p:nvPr/>
        </p:nvSpPr>
        <p:spPr>
          <a:xfrm>
            <a:off x="6184900" y="1968500"/>
            <a:ext cx="38100" cy="1206500"/>
          </a:xfrm>
          <a:prstGeom prst="rect">
            <a:avLst/>
          </a:prstGeom>
          <a:solidFill>
            <a:srgbClr val="2E4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03C749-4CC4-C846-9212-2D6217002910}"/>
              </a:ext>
            </a:extLst>
          </p:cNvPr>
          <p:cNvSpPr txBox="1"/>
          <p:nvPr/>
        </p:nvSpPr>
        <p:spPr>
          <a:xfrm>
            <a:off x="6337300" y="2044700"/>
            <a:ext cx="21717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2E4A66"/>
                </a:solidFill>
                <a:latin typeface="Calibri"/>
                <a:cs typeface="Calibri"/>
              </a:rPr>
              <a:t>Chip tensor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C683E0-5F80-5D42-94E5-4DD4C000C4B2}"/>
              </a:ext>
            </a:extLst>
          </p:cNvPr>
          <p:cNvSpPr txBox="1"/>
          <p:nvPr/>
        </p:nvSpPr>
        <p:spPr>
          <a:xfrm>
            <a:off x="6337300" y="2298700"/>
            <a:ext cx="21717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F2933"/>
                </a:solidFill>
                <a:latin typeface="Calibri"/>
                <a:cs typeface="Calibri"/>
              </a:rPr>
              <a:t>[30 × 224 × 224]
(C·T flattened)
→ ViT patch embed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65A0B70F-F096-1347-98EA-E0514363D210}"/>
              </a:ext>
            </a:extLst>
          </p:cNvPr>
          <p:cNvSpPr/>
          <p:nvPr/>
        </p:nvSpPr>
        <p:spPr>
          <a:xfrm>
            <a:off x="8674100" y="2495550"/>
            <a:ext cx="152400" cy="152400"/>
          </a:xfrm>
          <a:prstGeom prst="rightArrow">
            <a:avLst/>
          </a:prstGeom>
          <a:solidFill>
            <a:srgbClr val="5C7A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D99601-A557-EB4B-939B-81A3FB754BF2}"/>
              </a:ext>
            </a:extLst>
          </p:cNvPr>
          <p:cNvSpPr/>
          <p:nvPr/>
        </p:nvSpPr>
        <p:spPr>
          <a:xfrm>
            <a:off x="8839200" y="1968500"/>
            <a:ext cx="2476500" cy="1206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6CFC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934D2F-070C-2949-958F-3CB504D2A286}"/>
              </a:ext>
            </a:extLst>
          </p:cNvPr>
          <p:cNvSpPr/>
          <p:nvPr/>
        </p:nvSpPr>
        <p:spPr>
          <a:xfrm>
            <a:off x="8839200" y="1968500"/>
            <a:ext cx="38100" cy="1206500"/>
          </a:xfrm>
          <a:prstGeom prst="rect">
            <a:avLst/>
          </a:prstGeom>
          <a:solidFill>
            <a:srgbClr val="2E4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2D831B-720E-4347-923E-02CEE94D1CE6}"/>
              </a:ext>
            </a:extLst>
          </p:cNvPr>
          <p:cNvSpPr txBox="1"/>
          <p:nvPr/>
        </p:nvSpPr>
        <p:spPr>
          <a:xfrm>
            <a:off x="8991600" y="2044700"/>
            <a:ext cx="21717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2E4A66"/>
                </a:solidFill>
                <a:latin typeface="Calibri"/>
                <a:cs typeface="Calibri"/>
              </a:rPr>
              <a:t>Labels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A8C8EC-2B7F-CB46-9224-59FAE4E3A01E}"/>
              </a:ext>
            </a:extLst>
          </p:cNvPr>
          <p:cNvSpPr txBox="1"/>
          <p:nvPr/>
        </p:nvSpPr>
        <p:spPr>
          <a:xfrm>
            <a:off x="8991600" y="2298700"/>
            <a:ext cx="21717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F2933"/>
                </a:solidFill>
                <a:latin typeface="Calibri"/>
                <a:cs typeface="Calibri"/>
              </a:rPr>
              <a:t>30 m pixel maps
upsampled from
county-level yield
(bilinear)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34D4322-3692-9C4F-AC24-F8CBF438AB0E}"/>
              </a:ext>
            </a:extLst>
          </p:cNvPr>
          <p:cNvSpPr/>
          <p:nvPr/>
        </p:nvSpPr>
        <p:spPr>
          <a:xfrm>
            <a:off x="876300" y="3505200"/>
            <a:ext cx="5105400" cy="2540000"/>
          </a:xfrm>
          <a:prstGeom prst="rect">
            <a:avLst/>
          </a:prstGeom>
          <a:solidFill>
            <a:srgbClr val="EFEBE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CAB735-DC50-1347-B572-C98AE1D3EC2C}"/>
              </a:ext>
            </a:extLst>
          </p:cNvPr>
          <p:cNvSpPr txBox="1"/>
          <p:nvPr/>
        </p:nvSpPr>
        <p:spPr>
          <a:xfrm>
            <a:off x="1104900" y="36830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2E4A66"/>
                </a:solidFill>
                <a:latin typeface="Georgia"/>
              </a:rPr>
              <a:t>Splits &amp; spectral spec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563244-CD0E-6A48-9375-FC096413F991}"/>
              </a:ext>
            </a:extLst>
          </p:cNvPr>
          <p:cNvSpPr txBox="1"/>
          <p:nvPr/>
        </p:nvSpPr>
        <p:spPr>
          <a:xfrm>
            <a:off x="1104900" y="4013200"/>
            <a:ext cx="4648200" cy="145328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00000" indent="-200000">
              <a:lnSpc>
                <a:spcPts val="19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3"/>
                </a:solidFill>
              </a:rPr>
              <a:t>6079</a:t>
            </a:r>
            <a:r>
              <a:rPr lang="en-US" sz="1400" dirty="0">
                <a:solidFill>
                  <a:srgbClr val="1F2933"/>
                </a:solidFill>
              </a:rPr>
              <a:t> training image chips, </a:t>
            </a:r>
            <a:r>
              <a:rPr lang="en-US" sz="1400" b="1" dirty="0">
                <a:solidFill>
                  <a:srgbClr val="1F2933"/>
                </a:solidFill>
              </a:rPr>
              <a:t>1749</a:t>
            </a:r>
            <a:r>
              <a:rPr lang="en-US" sz="1400" dirty="0">
                <a:solidFill>
                  <a:srgbClr val="1F2933"/>
                </a:solidFill>
              </a:rPr>
              <a:t> validation (temporal hold-out)</a:t>
            </a:r>
          </a:p>
          <a:p>
            <a:pPr marL="200000" indent="-200000">
              <a:lnSpc>
                <a:spcPts val="19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3"/>
                </a:solidFill>
              </a:rPr>
              <a:t>Bands:</a:t>
            </a:r>
            <a:r>
              <a:rPr lang="en-US" sz="1400" dirty="0">
                <a:solidFill>
                  <a:srgbClr val="1F2933"/>
                </a:solidFill>
              </a:rPr>
              <a:t> Blue, Green, Red, NIR-Narrow, SWIR 1, SWIR 2</a:t>
            </a:r>
          </a:p>
          <a:p>
            <a:pPr marL="200000" indent="-200000">
              <a:lnSpc>
                <a:spcPts val="19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3"/>
                </a:solidFill>
              </a:rPr>
              <a:t>Normalization:</a:t>
            </a:r>
            <a:r>
              <a:rPr lang="en-US" sz="1400" dirty="0">
                <a:solidFill>
                  <a:srgbClr val="1F2933"/>
                </a:solidFill>
              </a:rPr>
              <a:t> channel-wise mean / std from train set</a:t>
            </a:r>
          </a:p>
          <a:p>
            <a:pPr marL="200000" indent="-200000">
              <a:lnSpc>
                <a:spcPts val="19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3"/>
                </a:solidFill>
              </a:rPr>
              <a:t>Augmentation:</a:t>
            </a:r>
            <a:r>
              <a:rPr lang="en-US" sz="1400" dirty="0">
                <a:solidFill>
                  <a:srgbClr val="1F2933"/>
                </a:solidFill>
              </a:rPr>
              <a:t> H/V flips p=0.2; Gaussian noise p=0.4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A577CAC-6DAB-F144-BD91-C2FDAE5F75A5}"/>
              </a:ext>
            </a:extLst>
          </p:cNvPr>
          <p:cNvSpPr/>
          <p:nvPr/>
        </p:nvSpPr>
        <p:spPr>
          <a:xfrm>
            <a:off x="6210300" y="3505200"/>
            <a:ext cx="5105400" cy="2540000"/>
          </a:xfrm>
          <a:prstGeom prst="rect">
            <a:avLst/>
          </a:prstGeom>
          <a:solidFill>
            <a:srgbClr val="EFEBE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D7179A-79F0-3F4F-8282-DB5E8915D606}"/>
              </a:ext>
            </a:extLst>
          </p:cNvPr>
          <p:cNvSpPr txBox="1"/>
          <p:nvPr/>
        </p:nvSpPr>
        <p:spPr>
          <a:xfrm>
            <a:off x="6438900" y="36830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5C7A52"/>
                </a:solidFill>
                <a:latin typeface="Georgia"/>
              </a:rPr>
              <a:t>Independent high-res validation set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A49430-19DB-7940-B2D8-E4DC36B4EEB0}"/>
              </a:ext>
            </a:extLst>
          </p:cNvPr>
          <p:cNvSpPr txBox="1"/>
          <p:nvPr/>
        </p:nvSpPr>
        <p:spPr>
          <a:xfrm>
            <a:off x="6438900" y="4013200"/>
            <a:ext cx="4648200" cy="218425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00000" indent="-200000">
              <a:lnSpc>
                <a:spcPts val="19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3"/>
                </a:solidFill>
              </a:rPr>
              <a:t>Native 10 m yield-monitor labels</a:t>
            </a:r>
            <a:r>
              <a:rPr lang="en-US" sz="1400" dirty="0">
                <a:solidFill>
                  <a:srgbClr val="1F2933"/>
                </a:solidFill>
              </a:rPr>
              <a:t>, multiple Prairie fields, 2013–2024</a:t>
            </a:r>
          </a:p>
          <a:p>
            <a:pPr marL="200000" indent="-200000">
              <a:lnSpc>
                <a:spcPts val="19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3"/>
                </a:solidFill>
              </a:rPr>
              <a:t>Never seen at training time</a:t>
            </a:r>
            <a:r>
              <a:rPr lang="en-US" sz="1400" dirty="0">
                <a:solidFill>
                  <a:srgbClr val="1F2933"/>
                </a:solidFill>
              </a:rPr>
              <a:t> — held out as external test set</a:t>
            </a:r>
          </a:p>
          <a:p>
            <a:pPr marL="200000" indent="-200000">
              <a:lnSpc>
                <a:spcPts val="19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3"/>
                </a:solidFill>
              </a:rPr>
              <a:t>Same Sentinel-2 HLS inputs</a:t>
            </a:r>
            <a:r>
              <a:rPr lang="en-US" sz="1400" dirty="0">
                <a:solidFill>
                  <a:srgbClr val="1F2933"/>
                </a:solidFill>
              </a:rPr>
              <a:t>; only labels differ from main set</a:t>
            </a:r>
          </a:p>
          <a:p>
            <a:pPr marL="200000" indent="-200000">
              <a:lnSpc>
                <a:spcPts val="19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3"/>
                </a:solidFill>
              </a:rPr>
              <a:t>Inputs upsampled 10 m → 5 m</a:t>
            </a:r>
            <a:r>
              <a:rPr lang="en-US" sz="1400" dirty="0">
                <a:solidFill>
                  <a:srgbClr val="1F2933"/>
                </a:solidFill>
              </a:rPr>
              <a:t> to match 224-px FARM checkpoint</a:t>
            </a:r>
          </a:p>
        </p:txBody>
      </p:sp>
    </p:spTree>
    <p:extLst>
      <p:ext uri="{BB962C8B-B14F-4D97-AF65-F5344CB8AC3E}">
        <p14:creationId xmlns:p14="http://schemas.microsoft.com/office/powerpoint/2010/main" val="13629741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257B0-1761-C612-B53D-C4637BCCE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rgia"/>
              </a:rPr>
              <a:t>Methodology — FARM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809B40-D3D4-AC40-9FB3-FBA162FF4B43}"/>
              </a:ext>
            </a:extLst>
          </p:cNvPr>
          <p:cNvSpPr/>
          <p:nvPr/>
        </p:nvSpPr>
        <p:spPr>
          <a:xfrm>
            <a:off x="774700" y="2222500"/>
            <a:ext cx="1905000" cy="1397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8A857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7CD8E4-5CDE-F64D-99D5-8B175E5D9D46}"/>
              </a:ext>
            </a:extLst>
          </p:cNvPr>
          <p:cNvSpPr/>
          <p:nvPr/>
        </p:nvSpPr>
        <p:spPr>
          <a:xfrm>
            <a:off x="774700" y="2222500"/>
            <a:ext cx="1905000" cy="50800"/>
          </a:xfrm>
          <a:prstGeom prst="rect">
            <a:avLst/>
          </a:prstGeom>
          <a:solidFill>
            <a:srgbClr val="8A857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2DE85D-B564-054D-AB8B-4D54904284A0}"/>
              </a:ext>
            </a:extLst>
          </p:cNvPr>
          <p:cNvSpPr txBox="1"/>
          <p:nvPr/>
        </p:nvSpPr>
        <p:spPr>
          <a:xfrm>
            <a:off x="876300" y="2349500"/>
            <a:ext cx="17018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 dirty="0">
                <a:solidFill>
                  <a:srgbClr val="8A8578"/>
                </a:solidFill>
                <a:latin typeface="Georgia"/>
              </a:rPr>
              <a:t>Input tensor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A6D468-1D3E-0742-8F63-2BAE5D19BA8E}"/>
              </a:ext>
            </a:extLst>
          </p:cNvPr>
          <p:cNvSpPr txBox="1"/>
          <p:nvPr/>
        </p:nvSpPr>
        <p:spPr>
          <a:xfrm>
            <a:off x="876300" y="2781300"/>
            <a:ext cx="17018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1F2933"/>
                </a:solidFill>
                <a:latin typeface="Calibri"/>
                <a:cs typeface="Calibri"/>
              </a:rPr>
              <a:t>[B, 30, 224, 224]
6 bands × 5 months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A697F142-2B07-5548-AC58-319BFA2CF598}"/>
              </a:ext>
            </a:extLst>
          </p:cNvPr>
          <p:cNvSpPr/>
          <p:nvPr/>
        </p:nvSpPr>
        <p:spPr>
          <a:xfrm>
            <a:off x="2705100" y="2832100"/>
            <a:ext cx="228600" cy="177800"/>
          </a:xfrm>
          <a:prstGeom prst="rightArrow">
            <a:avLst/>
          </a:prstGeom>
          <a:solidFill>
            <a:srgbClr val="2E4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D6D439-E527-C446-AEAE-E9AC102C41A4}"/>
              </a:ext>
            </a:extLst>
          </p:cNvPr>
          <p:cNvSpPr/>
          <p:nvPr/>
        </p:nvSpPr>
        <p:spPr>
          <a:xfrm>
            <a:off x="2959100" y="2222500"/>
            <a:ext cx="1905000" cy="1397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2E4A6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2DBCAB-E5DB-054C-BA38-221A7E939C87}"/>
              </a:ext>
            </a:extLst>
          </p:cNvPr>
          <p:cNvSpPr/>
          <p:nvPr/>
        </p:nvSpPr>
        <p:spPr>
          <a:xfrm>
            <a:off x="2959100" y="2222500"/>
            <a:ext cx="1905000" cy="50800"/>
          </a:xfrm>
          <a:prstGeom prst="rect">
            <a:avLst/>
          </a:prstGeom>
          <a:solidFill>
            <a:srgbClr val="2E4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BC8C7D-9C3B-7F42-B9F7-8536DF8DD451}"/>
              </a:ext>
            </a:extLst>
          </p:cNvPr>
          <p:cNvSpPr txBox="1"/>
          <p:nvPr/>
        </p:nvSpPr>
        <p:spPr>
          <a:xfrm>
            <a:off x="3060700" y="2349500"/>
            <a:ext cx="17018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2E4A66"/>
                </a:solidFill>
                <a:latin typeface="Georgia"/>
              </a:rPr>
              <a:t>Prithvi-EO
encoder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E2C88B-B039-074E-BBE5-89F0B137F5C9}"/>
              </a:ext>
            </a:extLst>
          </p:cNvPr>
          <p:cNvSpPr txBox="1"/>
          <p:nvPr/>
        </p:nvSpPr>
        <p:spPr>
          <a:xfrm>
            <a:off x="3060700" y="2781300"/>
            <a:ext cx="1701800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dirty="0" err="1">
                <a:solidFill>
                  <a:srgbClr val="1F2933"/>
                </a:solidFill>
                <a:latin typeface="Calibri"/>
                <a:cs typeface="Calibri"/>
              </a:rPr>
              <a:t>ViT</a:t>
            </a:r>
            <a:r>
              <a:rPr lang="en-US" sz="1200" dirty="0">
                <a:solidFill>
                  <a:srgbClr val="1F2933"/>
                </a:solidFill>
                <a:latin typeface="Calibri"/>
                <a:cs typeface="Calibri"/>
              </a:rPr>
              <a:t>, 32 blocks
14×14 patches
+ </a:t>
            </a:r>
            <a:r>
              <a:rPr lang="en-US" sz="1200" dirty="0" err="1">
                <a:solidFill>
                  <a:srgbClr val="1F2933"/>
                </a:solidFill>
                <a:latin typeface="Calibri"/>
                <a:cs typeface="Calibri"/>
              </a:rPr>
              <a:t>spatio</a:t>
            </a:r>
            <a:r>
              <a:rPr lang="en-US" sz="1200" dirty="0">
                <a:solidFill>
                  <a:srgbClr val="1F2933"/>
                </a:solidFill>
                <a:latin typeface="Calibri"/>
                <a:cs typeface="Calibri"/>
              </a:rPr>
              <a:t>-temporal
embeddings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13342CE3-B1E6-6440-8A12-7307880084C2}"/>
              </a:ext>
            </a:extLst>
          </p:cNvPr>
          <p:cNvSpPr/>
          <p:nvPr/>
        </p:nvSpPr>
        <p:spPr>
          <a:xfrm>
            <a:off x="4889500" y="2832100"/>
            <a:ext cx="228600" cy="177800"/>
          </a:xfrm>
          <a:prstGeom prst="rightArrow">
            <a:avLst/>
          </a:prstGeom>
          <a:solidFill>
            <a:srgbClr val="2E4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2D52D0-88FC-4A48-98F4-E209CFC18DD5}"/>
              </a:ext>
            </a:extLst>
          </p:cNvPr>
          <p:cNvSpPr/>
          <p:nvPr/>
        </p:nvSpPr>
        <p:spPr>
          <a:xfrm>
            <a:off x="5143500" y="2222500"/>
            <a:ext cx="1905000" cy="1397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463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D45556-30E8-4149-A16C-461696A43208}"/>
              </a:ext>
            </a:extLst>
          </p:cNvPr>
          <p:cNvSpPr/>
          <p:nvPr/>
        </p:nvSpPr>
        <p:spPr>
          <a:xfrm>
            <a:off x="5143500" y="2222500"/>
            <a:ext cx="1905000" cy="50800"/>
          </a:xfrm>
          <a:prstGeom prst="rect">
            <a:avLst/>
          </a:prstGeom>
          <a:solidFill>
            <a:srgbClr val="4463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F22665-2E8B-6C46-87AF-0CEFB823091F}"/>
              </a:ext>
            </a:extLst>
          </p:cNvPr>
          <p:cNvSpPr txBox="1"/>
          <p:nvPr/>
        </p:nvSpPr>
        <p:spPr>
          <a:xfrm>
            <a:off x="5245100" y="2349500"/>
            <a:ext cx="17018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446380"/>
                </a:solidFill>
                <a:latin typeface="Georgia"/>
              </a:rPr>
              <a:t>UperNet
decoder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604A5E-6795-C64C-8029-660E97B9065B}"/>
              </a:ext>
            </a:extLst>
          </p:cNvPr>
          <p:cNvSpPr txBox="1"/>
          <p:nvPr/>
        </p:nvSpPr>
        <p:spPr>
          <a:xfrm>
            <a:off x="5245100" y="2781300"/>
            <a:ext cx="17018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1F2933"/>
                </a:solidFill>
                <a:latin typeface="Calibri"/>
                <a:cs typeface="Calibri"/>
              </a:rPr>
              <a:t>FPN + PSP
fuses layers
8 / 16 / 24 / 32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4E60C5AC-126B-CF41-9135-D6855EDFBEB3}"/>
              </a:ext>
            </a:extLst>
          </p:cNvPr>
          <p:cNvSpPr/>
          <p:nvPr/>
        </p:nvSpPr>
        <p:spPr>
          <a:xfrm>
            <a:off x="7073900" y="2832100"/>
            <a:ext cx="228600" cy="177800"/>
          </a:xfrm>
          <a:prstGeom prst="rightArrow">
            <a:avLst/>
          </a:prstGeom>
          <a:solidFill>
            <a:srgbClr val="2E4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52C6BB-8282-9149-9193-864CDCBA2DBD}"/>
              </a:ext>
            </a:extLst>
          </p:cNvPr>
          <p:cNvSpPr/>
          <p:nvPr/>
        </p:nvSpPr>
        <p:spPr>
          <a:xfrm>
            <a:off x="7327900" y="2222500"/>
            <a:ext cx="1905000" cy="1397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5C7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7A5989-6783-C342-B81E-0DB6895227F0}"/>
              </a:ext>
            </a:extLst>
          </p:cNvPr>
          <p:cNvSpPr/>
          <p:nvPr/>
        </p:nvSpPr>
        <p:spPr>
          <a:xfrm>
            <a:off x="7327900" y="2222500"/>
            <a:ext cx="1905000" cy="50800"/>
          </a:xfrm>
          <a:prstGeom prst="rect">
            <a:avLst/>
          </a:prstGeom>
          <a:solidFill>
            <a:srgbClr val="5C7A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6E2811-5C86-AA44-B03A-8D7082BB49C3}"/>
              </a:ext>
            </a:extLst>
          </p:cNvPr>
          <p:cNvSpPr txBox="1"/>
          <p:nvPr/>
        </p:nvSpPr>
        <p:spPr>
          <a:xfrm>
            <a:off x="7429500" y="2349500"/>
            <a:ext cx="17018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5C7A52"/>
                </a:solidFill>
                <a:latin typeface="Georgia"/>
              </a:rPr>
              <a:t>Regression
head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28A1C1-DA06-BC4D-BDFC-9EC682C03BC3}"/>
              </a:ext>
            </a:extLst>
          </p:cNvPr>
          <p:cNvSpPr txBox="1"/>
          <p:nvPr/>
        </p:nvSpPr>
        <p:spPr>
          <a:xfrm>
            <a:off x="7429500" y="2781300"/>
            <a:ext cx="17018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1F2933"/>
                </a:solidFill>
                <a:latin typeface="Calibri"/>
                <a:cs typeface="Calibri"/>
              </a:rPr>
              <a:t>3 × 3 × 3 convs
+ BN + ReLU
→ 1 channel</a:t>
            </a: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A6C751CA-7BCA-104C-BA48-28FF319F4D1D}"/>
              </a:ext>
            </a:extLst>
          </p:cNvPr>
          <p:cNvSpPr/>
          <p:nvPr/>
        </p:nvSpPr>
        <p:spPr>
          <a:xfrm>
            <a:off x="9258300" y="2832100"/>
            <a:ext cx="228600" cy="177800"/>
          </a:xfrm>
          <a:prstGeom prst="rightArrow">
            <a:avLst/>
          </a:prstGeom>
          <a:solidFill>
            <a:srgbClr val="2E4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9BBE2E1-48CB-7B4B-880E-0146E3EC267D}"/>
              </a:ext>
            </a:extLst>
          </p:cNvPr>
          <p:cNvSpPr/>
          <p:nvPr/>
        </p:nvSpPr>
        <p:spPr>
          <a:xfrm>
            <a:off x="9512300" y="2222500"/>
            <a:ext cx="1905000" cy="1397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B36A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91DF7C-8BF6-1A40-96D7-35CE84B177FE}"/>
              </a:ext>
            </a:extLst>
          </p:cNvPr>
          <p:cNvSpPr/>
          <p:nvPr/>
        </p:nvSpPr>
        <p:spPr>
          <a:xfrm>
            <a:off x="9512300" y="2222500"/>
            <a:ext cx="1905000" cy="50800"/>
          </a:xfrm>
          <a:prstGeom prst="rect">
            <a:avLst/>
          </a:prstGeom>
          <a:solidFill>
            <a:srgbClr val="B36A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407BF4-A7CF-4E45-BACA-D47356540458}"/>
              </a:ext>
            </a:extLst>
          </p:cNvPr>
          <p:cNvSpPr txBox="1"/>
          <p:nvPr/>
        </p:nvSpPr>
        <p:spPr>
          <a:xfrm>
            <a:off x="9613900" y="2349500"/>
            <a:ext cx="17018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B36A3E"/>
                </a:solidFill>
                <a:latin typeface="Georgia"/>
              </a:rPr>
              <a:t>Yield map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4DAD30-F60D-474A-98AA-96FA3DACB684}"/>
              </a:ext>
            </a:extLst>
          </p:cNvPr>
          <p:cNvSpPr txBox="1"/>
          <p:nvPr/>
        </p:nvSpPr>
        <p:spPr>
          <a:xfrm>
            <a:off x="9613900" y="2781300"/>
            <a:ext cx="17018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1F2933"/>
                </a:solidFill>
                <a:latin typeface="Calibri"/>
                <a:cs typeface="Calibri"/>
              </a:rPr>
              <a:t>[B, 1, H, W]
per-pixel kg/ha
30 m resolution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8EAC826-7602-C147-998D-159D6FF49196}"/>
              </a:ext>
            </a:extLst>
          </p:cNvPr>
          <p:cNvSpPr/>
          <p:nvPr/>
        </p:nvSpPr>
        <p:spPr>
          <a:xfrm>
            <a:off x="774700" y="4000500"/>
            <a:ext cx="10642600" cy="1841500"/>
          </a:xfrm>
          <a:prstGeom prst="rect">
            <a:avLst/>
          </a:prstGeom>
          <a:solidFill>
            <a:srgbClr val="EFEBE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16AB05-B73F-734F-ACA3-E18515FED34E}"/>
              </a:ext>
            </a:extLst>
          </p:cNvPr>
          <p:cNvSpPr txBox="1"/>
          <p:nvPr/>
        </p:nvSpPr>
        <p:spPr>
          <a:xfrm>
            <a:off x="1028700" y="4152900"/>
            <a:ext cx="101346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2E4A66"/>
                </a:solidFill>
                <a:latin typeface="Georgia"/>
              </a:rPr>
              <a:t>Key design choices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5AAB11-245E-F445-AC9F-C7386434C987}"/>
              </a:ext>
            </a:extLst>
          </p:cNvPr>
          <p:cNvSpPr txBox="1"/>
          <p:nvPr/>
        </p:nvSpPr>
        <p:spPr>
          <a:xfrm>
            <a:off x="1028700" y="4483100"/>
            <a:ext cx="10134600" cy="141481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00000" indent="-200000">
              <a:lnSpc>
                <a:spcPts val="1900"/>
              </a:lnSpc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rgbClr val="2E4A66"/>
                </a:solidFill>
              </a:rPr>
              <a:t>Encoder is unfrozen</a:t>
            </a:r>
            <a:r>
              <a:rPr lang="en-US" sz="1400" dirty="0">
                <a:solidFill>
                  <a:srgbClr val="1F2933"/>
                </a:solidFill>
              </a:rPr>
              <a:t> — all 600 M Prithvi weights fine-tuned end-to-end on canola data</a:t>
            </a:r>
          </a:p>
          <a:p>
            <a:pPr marL="200000" indent="-200000">
              <a:lnSpc>
                <a:spcPts val="1900"/>
              </a:lnSpc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rgbClr val="2E4A66"/>
                </a:solidFill>
              </a:rPr>
              <a:t>Time as channel:</a:t>
            </a:r>
            <a:r>
              <a:rPr lang="en-US" sz="1400" dirty="0">
                <a:solidFill>
                  <a:srgbClr val="1F2933"/>
                </a:solidFill>
              </a:rPr>
              <a:t> 5 monthly composites × 6 bands flattened into 30 input channels; ViT self-attention models space+time jointly</a:t>
            </a:r>
          </a:p>
          <a:p>
            <a:pPr marL="200000" indent="-200000">
              <a:lnSpc>
                <a:spcPts val="1900"/>
              </a:lnSpc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rgbClr val="2E4A66"/>
                </a:solidFill>
              </a:rPr>
              <a:t>Multi-scale fusion:</a:t>
            </a:r>
            <a:r>
              <a:rPr lang="en-US" sz="1400" dirty="0">
                <a:solidFill>
                  <a:srgbClr val="1F2933"/>
                </a:solidFill>
              </a:rPr>
              <a:t> UperNet pulls encoder layers 8/16/24/32 to reconstruct dense maps from abstract ViT tokens</a:t>
            </a:r>
          </a:p>
          <a:p>
            <a:pPr marL="200000" indent="-200000">
              <a:lnSpc>
                <a:spcPts val="1900"/>
              </a:lnSpc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rgbClr val="2E4A66"/>
                </a:solidFill>
              </a:rPr>
              <a:t>Deep supervision:</a:t>
            </a:r>
            <a:r>
              <a:rPr lang="en-US" sz="1400" dirty="0">
                <a:solidFill>
                  <a:srgbClr val="1F2933"/>
                </a:solidFill>
              </a:rPr>
              <a:t> auxiliary regression head adds 0.2 × Laux to total loss → stabilizes training of the deep network</a:t>
            </a:r>
          </a:p>
        </p:txBody>
      </p:sp>
    </p:spTree>
    <p:extLst>
      <p:ext uri="{BB962C8B-B14F-4D97-AF65-F5344CB8AC3E}">
        <p14:creationId xmlns:p14="http://schemas.microsoft.com/office/powerpoint/2010/main" val="17125184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821B2-B88D-FB7E-5622-A93E37741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B50E9-82E1-8C96-B0CD-B79D36BCE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rgia"/>
              </a:rPr>
              <a:t>Methodology — FARM architecture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C6790FA-00C4-0C59-012C-7EEE39D3EFDE}"/>
              </a:ext>
            </a:extLst>
          </p:cNvPr>
          <p:cNvSpPr/>
          <p:nvPr/>
        </p:nvSpPr>
        <p:spPr>
          <a:xfrm>
            <a:off x="774700" y="1690688"/>
            <a:ext cx="5016500" cy="4151312"/>
          </a:xfrm>
          <a:prstGeom prst="rect">
            <a:avLst/>
          </a:prstGeom>
          <a:solidFill>
            <a:srgbClr val="EFEBE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BBAD79-D9A8-2B59-EC44-7D9DE296ED40}"/>
              </a:ext>
            </a:extLst>
          </p:cNvPr>
          <p:cNvSpPr txBox="1"/>
          <p:nvPr/>
        </p:nvSpPr>
        <p:spPr>
          <a:xfrm>
            <a:off x="1028700" y="1843653"/>
            <a:ext cx="101346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2E4A66"/>
                </a:solidFill>
                <a:latin typeface="Georgia"/>
              </a:rPr>
              <a:t>Key design choices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02AF65-F146-1720-B5EB-64A1ABA67A32}"/>
              </a:ext>
            </a:extLst>
          </p:cNvPr>
          <p:cNvSpPr txBox="1"/>
          <p:nvPr/>
        </p:nvSpPr>
        <p:spPr>
          <a:xfrm>
            <a:off x="774700" y="2166818"/>
            <a:ext cx="4683991" cy="28767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00000" indent="-200000">
              <a:lnSpc>
                <a:spcPts val="1900"/>
              </a:lnSpc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rgbClr val="2E4A66"/>
                </a:solidFill>
              </a:rPr>
              <a:t>Encoder is unfrozen</a:t>
            </a:r>
            <a:r>
              <a:rPr lang="en-US" sz="1400" dirty="0">
                <a:solidFill>
                  <a:srgbClr val="1F2933"/>
                </a:solidFill>
              </a:rPr>
              <a:t> — all 600 M Prithvi weights fine-tuned end-to-end on canola data</a:t>
            </a:r>
          </a:p>
          <a:p>
            <a:pPr marL="200000" indent="-200000">
              <a:lnSpc>
                <a:spcPts val="1900"/>
              </a:lnSpc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rgbClr val="2E4A66"/>
                </a:solidFill>
              </a:rPr>
              <a:t>Time as channel:</a:t>
            </a:r>
            <a:r>
              <a:rPr lang="en-US" sz="1400" dirty="0">
                <a:solidFill>
                  <a:srgbClr val="1F2933"/>
                </a:solidFill>
              </a:rPr>
              <a:t> 5 monthly composites × 6 bands flattened into 30 input channels; ViT self-attention models space+time jointly</a:t>
            </a:r>
          </a:p>
          <a:p>
            <a:pPr marL="200000" indent="-200000">
              <a:lnSpc>
                <a:spcPts val="1900"/>
              </a:lnSpc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rgbClr val="2E4A66"/>
                </a:solidFill>
              </a:rPr>
              <a:t>Multi-scale fusion:</a:t>
            </a:r>
            <a:r>
              <a:rPr lang="en-US" sz="1400" dirty="0">
                <a:solidFill>
                  <a:srgbClr val="1F2933"/>
                </a:solidFill>
              </a:rPr>
              <a:t> UperNet pulls encoder layers 8/16/24/32 to reconstruct dense maps from abstract ViT tokens</a:t>
            </a:r>
          </a:p>
          <a:p>
            <a:pPr marL="200000" indent="-200000">
              <a:lnSpc>
                <a:spcPts val="1900"/>
              </a:lnSpc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rgbClr val="2E4A66"/>
                </a:solidFill>
              </a:rPr>
              <a:t>Deep supervision:</a:t>
            </a:r>
            <a:r>
              <a:rPr lang="en-US" sz="1400" dirty="0">
                <a:solidFill>
                  <a:srgbClr val="1F2933"/>
                </a:solidFill>
              </a:rPr>
              <a:t> auxiliary regression head adds 0.2 × Laux to total loss → stabilizes training of the deep network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16D7A2-E7E4-96D2-CFF3-BE9794C47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428" y="1464469"/>
            <a:ext cx="3633429" cy="502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0944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4BC23-0CFF-6CE6-2A28-71464BD90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rgia"/>
              </a:rPr>
              <a:t>Training objective &amp; evaluation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820653-C713-5543-938E-0E18662FE4BD}"/>
              </a:ext>
            </a:extLst>
          </p:cNvPr>
          <p:cNvSpPr/>
          <p:nvPr/>
        </p:nvSpPr>
        <p:spPr>
          <a:xfrm>
            <a:off x="654050" y="2032000"/>
            <a:ext cx="3492500" cy="2984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6CFC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DE3D55-7305-6C4C-82C0-36100242D7D6}"/>
              </a:ext>
            </a:extLst>
          </p:cNvPr>
          <p:cNvSpPr/>
          <p:nvPr/>
        </p:nvSpPr>
        <p:spPr>
          <a:xfrm>
            <a:off x="654050" y="2032000"/>
            <a:ext cx="3492500" cy="50800"/>
          </a:xfrm>
          <a:prstGeom prst="rect">
            <a:avLst/>
          </a:prstGeom>
          <a:solidFill>
            <a:srgbClr val="2E4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009329-CA52-AF43-AEB5-CE4C1D8E3364}"/>
              </a:ext>
            </a:extLst>
          </p:cNvPr>
          <p:cNvSpPr txBox="1"/>
          <p:nvPr/>
        </p:nvSpPr>
        <p:spPr>
          <a:xfrm>
            <a:off x="857250" y="2209800"/>
            <a:ext cx="30861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2E4A66"/>
                </a:solidFill>
                <a:latin typeface="Georgia"/>
              </a:rPr>
              <a:t>Loss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A2BFEF-227B-4E40-A231-D99AF1BA5CDF}"/>
              </a:ext>
            </a:extLst>
          </p:cNvPr>
          <p:cNvSpPr txBox="1"/>
          <p:nvPr/>
        </p:nvSpPr>
        <p:spPr>
          <a:xfrm>
            <a:off x="857250" y="2616200"/>
            <a:ext cx="3086100" cy="190212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00000" indent="-200000">
              <a:lnSpc>
                <a:spcPts val="1900"/>
              </a:lnSpc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3"/>
                </a:solidFill>
              </a:rPr>
              <a:t>Primary: </a:t>
            </a:r>
            <a:r>
              <a:rPr lang="en-US" sz="1400" dirty="0">
                <a:solidFill>
                  <a:srgbClr val="1F2933"/>
                </a:solidFill>
              </a:rPr>
              <a:t>per-pixel MSE on standardized yield</a:t>
            </a:r>
          </a:p>
          <a:p>
            <a:pPr marL="200000" indent="-200000">
              <a:lnSpc>
                <a:spcPts val="1900"/>
              </a:lnSpc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3"/>
                </a:solidFill>
              </a:rPr>
              <a:t>Robust variant: </a:t>
            </a:r>
            <a:r>
              <a:rPr lang="en-US" sz="1400" dirty="0">
                <a:solidFill>
                  <a:srgbClr val="1F2933"/>
                </a:solidFill>
              </a:rPr>
              <a:t>Huber loss for outlier sensitivity</a:t>
            </a:r>
          </a:p>
          <a:p>
            <a:pPr marL="200000" indent="-200000">
              <a:lnSpc>
                <a:spcPts val="1900"/>
              </a:lnSpc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3"/>
                </a:solidFill>
              </a:rPr>
              <a:t>Deep supervision: </a:t>
            </a:r>
            <a:r>
              <a:rPr lang="en-US" sz="1400" dirty="0">
                <a:solidFill>
                  <a:srgbClr val="1F2933"/>
                </a:solidFill>
              </a:rPr>
              <a:t>aux UperNet head with weight 0.2</a:t>
            </a:r>
          </a:p>
          <a:p>
            <a:pPr marL="200000" indent="-200000">
              <a:lnSpc>
                <a:spcPts val="1900"/>
              </a:lnSpc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3"/>
                </a:solidFill>
              </a:rPr>
              <a:t>Total = </a:t>
            </a:r>
            <a:r>
              <a:rPr lang="en-US" sz="1400" dirty="0">
                <a:solidFill>
                  <a:srgbClr val="1F2933"/>
                </a:solidFill>
              </a:rPr>
              <a:t>L_main + 0.2 · L_aux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546DBD-0742-7E4F-82F6-28DC9EC7D98A}"/>
              </a:ext>
            </a:extLst>
          </p:cNvPr>
          <p:cNvSpPr/>
          <p:nvPr/>
        </p:nvSpPr>
        <p:spPr>
          <a:xfrm>
            <a:off x="4349750" y="2032000"/>
            <a:ext cx="3492500" cy="2984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6CFC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83C897-E440-0545-AC84-0DE4563C65F1}"/>
              </a:ext>
            </a:extLst>
          </p:cNvPr>
          <p:cNvSpPr/>
          <p:nvPr/>
        </p:nvSpPr>
        <p:spPr>
          <a:xfrm>
            <a:off x="4349750" y="2032000"/>
            <a:ext cx="3492500" cy="50800"/>
          </a:xfrm>
          <a:prstGeom prst="rect">
            <a:avLst/>
          </a:prstGeom>
          <a:solidFill>
            <a:srgbClr val="5C7A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711AED-32CE-BD49-A2EF-A7EDDB81C4FC}"/>
              </a:ext>
            </a:extLst>
          </p:cNvPr>
          <p:cNvSpPr txBox="1"/>
          <p:nvPr/>
        </p:nvSpPr>
        <p:spPr>
          <a:xfrm>
            <a:off x="4552950" y="2209800"/>
            <a:ext cx="30861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5C7A52"/>
                </a:solidFill>
                <a:latin typeface="Georgia"/>
              </a:rPr>
              <a:t>Training setup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C6E5A2-9E1C-1549-AE5A-7A12D698A2B2}"/>
              </a:ext>
            </a:extLst>
          </p:cNvPr>
          <p:cNvSpPr txBox="1"/>
          <p:nvPr/>
        </p:nvSpPr>
        <p:spPr>
          <a:xfrm>
            <a:off x="4552950" y="2616200"/>
            <a:ext cx="3086100" cy="194059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00000" indent="-200000">
              <a:lnSpc>
                <a:spcPts val="1900"/>
              </a:lnSpc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3"/>
                </a:solidFill>
              </a:rPr>
              <a:t>PyTorch </a:t>
            </a:r>
            <a:r>
              <a:rPr lang="en-US" sz="1400" dirty="0">
                <a:solidFill>
                  <a:srgbClr val="1F2933"/>
                </a:solidFill>
              </a:rPr>
              <a:t>2.6 + Lightning, seed 0</a:t>
            </a:r>
          </a:p>
          <a:p>
            <a:pPr marL="200000" indent="-200000">
              <a:lnSpc>
                <a:spcPts val="1900"/>
              </a:lnSpc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3"/>
                </a:solidFill>
              </a:rPr>
              <a:t>AdamW </a:t>
            </a:r>
            <a:r>
              <a:rPr lang="en-US" sz="1400" dirty="0">
                <a:solidFill>
                  <a:srgbClr val="1F2933"/>
                </a:solidFill>
              </a:rPr>
              <a:t>weight decay 0.1</a:t>
            </a:r>
          </a:p>
          <a:p>
            <a:pPr marL="200000" indent="-200000">
              <a:lnSpc>
                <a:spcPts val="1900"/>
              </a:lnSpc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3"/>
                </a:solidFill>
              </a:rPr>
              <a:t>LR </a:t>
            </a:r>
            <a:r>
              <a:rPr lang="en-US" sz="1400" dirty="0">
                <a:solidFill>
                  <a:srgbClr val="1F2933"/>
                </a:solidFill>
              </a:rPr>
              <a:t>5e-6 → 1e-8, cosine + 20-epoch warm-up</a:t>
            </a:r>
          </a:p>
          <a:p>
            <a:pPr marL="200000" indent="-200000">
              <a:lnSpc>
                <a:spcPts val="1900"/>
              </a:lnSpc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3"/>
                </a:solidFill>
              </a:rPr>
              <a:t>120 epochs, batch 8, bfloat16</a:t>
            </a:r>
          </a:p>
          <a:p>
            <a:pPr marL="200000" indent="-200000">
              <a:lnSpc>
                <a:spcPts val="1900"/>
              </a:lnSpc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3"/>
                </a:solidFill>
              </a:rPr>
              <a:t>Hardware: </a:t>
            </a:r>
            <a:r>
              <a:rPr lang="en-US" sz="1400" dirty="0">
                <a:solidFill>
                  <a:srgbClr val="1F2933"/>
                </a:solidFill>
              </a:rPr>
              <a:t>NVIDIA 48 GB GPU node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656672-7ECB-1A4E-B519-448DEB3B14B6}"/>
              </a:ext>
            </a:extLst>
          </p:cNvPr>
          <p:cNvSpPr/>
          <p:nvPr/>
        </p:nvSpPr>
        <p:spPr>
          <a:xfrm>
            <a:off x="8045450" y="2032000"/>
            <a:ext cx="3492500" cy="2984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6CFC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7DF718-1555-0C4C-8709-5B4D82B0340D}"/>
              </a:ext>
            </a:extLst>
          </p:cNvPr>
          <p:cNvSpPr/>
          <p:nvPr/>
        </p:nvSpPr>
        <p:spPr>
          <a:xfrm>
            <a:off x="8045450" y="2032000"/>
            <a:ext cx="3492500" cy="50800"/>
          </a:xfrm>
          <a:prstGeom prst="rect">
            <a:avLst/>
          </a:prstGeom>
          <a:solidFill>
            <a:srgbClr val="B36A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1EFF8E-E04F-6947-902F-C561F39AF2CA}"/>
              </a:ext>
            </a:extLst>
          </p:cNvPr>
          <p:cNvSpPr txBox="1"/>
          <p:nvPr/>
        </p:nvSpPr>
        <p:spPr>
          <a:xfrm>
            <a:off x="8248650" y="2209800"/>
            <a:ext cx="30861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B36A3E"/>
                </a:solidFill>
                <a:latin typeface="Georgia"/>
              </a:rPr>
              <a:t>Evaluation &amp; baselines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4F86F0-99EE-3B43-81C1-CAF27FF2F03A}"/>
              </a:ext>
            </a:extLst>
          </p:cNvPr>
          <p:cNvSpPr txBox="1"/>
          <p:nvPr/>
        </p:nvSpPr>
        <p:spPr>
          <a:xfrm>
            <a:off x="8248650" y="2616200"/>
            <a:ext cx="3086100" cy="214578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00000" indent="-200000">
              <a:lnSpc>
                <a:spcPts val="1900"/>
              </a:lnSpc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3"/>
                </a:solidFill>
              </a:rPr>
              <a:t>Metrics: </a:t>
            </a:r>
            <a:r>
              <a:rPr lang="en-US" sz="1400" dirty="0">
                <a:solidFill>
                  <a:srgbClr val="1F2933"/>
                </a:solidFill>
              </a:rPr>
              <a:t>RMSE, MAE, R², Pearson r</a:t>
            </a:r>
          </a:p>
          <a:p>
            <a:pPr marL="200000" indent="-200000">
              <a:lnSpc>
                <a:spcPts val="1900"/>
              </a:lnSpc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3"/>
                </a:solidFill>
              </a:rPr>
              <a:t>Validation: </a:t>
            </a:r>
            <a:r>
              <a:rPr lang="en-US" sz="1400" dirty="0">
                <a:solidFill>
                  <a:srgbClr val="1F2933"/>
                </a:solidFill>
              </a:rPr>
              <a:t>temporal hold-out on unseen seasons</a:t>
            </a:r>
          </a:p>
          <a:p>
            <a:pPr marL="200000" indent="-200000">
              <a:lnSpc>
                <a:spcPts val="1900"/>
              </a:lnSpc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3"/>
                </a:solidFill>
              </a:rPr>
              <a:t>Baselines: </a:t>
            </a:r>
            <a:r>
              <a:rPr lang="en-US" sz="1400" dirty="0">
                <a:solidFill>
                  <a:srgbClr val="1F2933"/>
                </a:solidFill>
              </a:rPr>
              <a:t>3D-CNN and DeepYield, retrained from scratch on the same canola data</a:t>
            </a:r>
          </a:p>
          <a:p>
            <a:pPr marL="200000" indent="-200000">
              <a:lnSpc>
                <a:spcPts val="1900"/>
              </a:lnSpc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3"/>
                </a:solidFill>
              </a:rPr>
              <a:t>Reported in </a:t>
            </a:r>
            <a:r>
              <a:rPr lang="en-US" sz="1400" dirty="0">
                <a:solidFill>
                  <a:srgbClr val="1F2933"/>
                </a:solidFill>
              </a:rPr>
              <a:t>standardized units + kg/ha + bu/ac</a:t>
            </a:r>
          </a:p>
        </p:txBody>
      </p:sp>
    </p:spTree>
    <p:extLst>
      <p:ext uri="{BB962C8B-B14F-4D97-AF65-F5344CB8AC3E}">
        <p14:creationId xmlns:p14="http://schemas.microsoft.com/office/powerpoint/2010/main" val="14325921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1C20B-860C-35E9-F638-220205077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rgia"/>
              </a:rPr>
              <a:t>Results — FARM vs. baselines on the validation set</a:t>
            </a:r>
          </a:p>
        </p:txBody>
      </p:sp>
      <p:graphicFrame>
        <p:nvGraphicFramePr>
          <p:cNvPr id="201" name="Chart 1"/>
          <p:cNvGraphicFramePr/>
          <p:nvPr>
            <p:extLst>
              <p:ext uri="{D42A27DB-BD31-4B8C-83A1-F6EECF244321}">
                <p14:modId xmlns:p14="http://schemas.microsoft.com/office/powerpoint/2010/main" val="1577993751"/>
              </p:ext>
            </p:extLst>
          </p:nvPr>
        </p:nvGraphicFramePr>
        <p:xfrm>
          <a:off x="635000" y="2032000"/>
          <a:ext cx="5588000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E14A2060-9CF6-A246-8989-21ED48130612}"/>
              </a:ext>
            </a:extLst>
          </p:cNvPr>
          <p:cNvSpPr/>
          <p:nvPr/>
        </p:nvSpPr>
        <p:spPr>
          <a:xfrm>
            <a:off x="6477000" y="2032000"/>
            <a:ext cx="5080000" cy="3937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6CFC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84A3F8-D658-774B-A441-85932E74F1AA}"/>
              </a:ext>
            </a:extLst>
          </p:cNvPr>
          <p:cNvSpPr/>
          <p:nvPr/>
        </p:nvSpPr>
        <p:spPr>
          <a:xfrm>
            <a:off x="6477000" y="2032000"/>
            <a:ext cx="50800" cy="3937000"/>
          </a:xfrm>
          <a:prstGeom prst="rect">
            <a:avLst/>
          </a:prstGeom>
          <a:solidFill>
            <a:srgbClr val="2E4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53412-718A-2344-9B34-398D2B04DE22}"/>
              </a:ext>
            </a:extLst>
          </p:cNvPr>
          <p:cNvSpPr txBox="1"/>
          <p:nvPr/>
        </p:nvSpPr>
        <p:spPr>
          <a:xfrm>
            <a:off x="6731000" y="2209800"/>
            <a:ext cx="457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E4A66"/>
                </a:solidFill>
                <a:latin typeface="Georgia"/>
              </a:rPr>
              <a:t>Best-configured FARM (MSE + Aux head)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23A641-1530-094A-82F7-AD1F78AF5611}"/>
              </a:ext>
            </a:extLst>
          </p:cNvPr>
          <p:cNvSpPr txBox="1"/>
          <p:nvPr/>
        </p:nvSpPr>
        <p:spPr>
          <a:xfrm>
            <a:off x="6731000" y="2667000"/>
            <a:ext cx="127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5C7A52"/>
                </a:solidFill>
                <a:latin typeface="Calibri"/>
                <a:cs typeface="Calibri"/>
              </a:rPr>
              <a:t>RMSE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D9B671-31BA-C74C-879B-B5EA8542DC45}"/>
              </a:ext>
            </a:extLst>
          </p:cNvPr>
          <p:cNvSpPr txBox="1"/>
          <p:nvPr/>
        </p:nvSpPr>
        <p:spPr>
          <a:xfrm>
            <a:off x="8001000" y="2667000"/>
            <a:ext cx="330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933"/>
                </a:solidFill>
                <a:latin typeface="Calibri"/>
                <a:cs typeface="Calibri"/>
              </a:rPr>
              <a:t>0.437 std · 209 kg/ha · 3.73 bu/ac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DD6194-E26B-8F4A-ABF6-9D42D1A7ADBE}"/>
              </a:ext>
            </a:extLst>
          </p:cNvPr>
          <p:cNvSpPr txBox="1"/>
          <p:nvPr/>
        </p:nvSpPr>
        <p:spPr>
          <a:xfrm>
            <a:off x="6731000" y="3022600"/>
            <a:ext cx="127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5C7A52"/>
                </a:solidFill>
                <a:latin typeface="Calibri"/>
                <a:cs typeface="Calibri"/>
              </a:rPr>
              <a:t>MAE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DE25E9-5FA7-054C-9507-69A4070F0119}"/>
              </a:ext>
            </a:extLst>
          </p:cNvPr>
          <p:cNvSpPr txBox="1"/>
          <p:nvPr/>
        </p:nvSpPr>
        <p:spPr>
          <a:xfrm>
            <a:off x="8001000" y="3022600"/>
            <a:ext cx="330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933"/>
                </a:solidFill>
                <a:latin typeface="Calibri"/>
                <a:cs typeface="Calibri"/>
              </a:rPr>
              <a:t>0.332 std · 158 kg/ha · 2.83 bu/ac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E66D9B-433E-D44E-B92A-5925FC416E9F}"/>
              </a:ext>
            </a:extLst>
          </p:cNvPr>
          <p:cNvSpPr txBox="1"/>
          <p:nvPr/>
        </p:nvSpPr>
        <p:spPr>
          <a:xfrm>
            <a:off x="6731000" y="3378200"/>
            <a:ext cx="127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5C7A52"/>
                </a:solidFill>
                <a:latin typeface="Calibri"/>
                <a:cs typeface="Calibri"/>
              </a:rPr>
              <a:t>R²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90CDB4-56B9-314B-A7E5-FC24BDB0E769}"/>
              </a:ext>
            </a:extLst>
          </p:cNvPr>
          <p:cNvSpPr txBox="1"/>
          <p:nvPr/>
        </p:nvSpPr>
        <p:spPr>
          <a:xfrm>
            <a:off x="8001000" y="3378200"/>
            <a:ext cx="330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933"/>
                </a:solidFill>
                <a:latin typeface="Calibri"/>
                <a:cs typeface="Calibri"/>
              </a:rPr>
              <a:t>0.811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7FF95C-3BF1-BD40-8B5F-E905F7B0DDFC}"/>
              </a:ext>
            </a:extLst>
          </p:cNvPr>
          <p:cNvSpPr txBox="1"/>
          <p:nvPr/>
        </p:nvSpPr>
        <p:spPr>
          <a:xfrm>
            <a:off x="6731000" y="3733800"/>
            <a:ext cx="127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5C7A52"/>
                </a:solidFill>
                <a:latin typeface="Calibri"/>
                <a:cs typeface="Calibri"/>
              </a:rPr>
              <a:t>Pearson 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FEB63B-6F3F-814D-9562-A8567A397FD5}"/>
              </a:ext>
            </a:extLst>
          </p:cNvPr>
          <p:cNvSpPr txBox="1"/>
          <p:nvPr/>
        </p:nvSpPr>
        <p:spPr>
          <a:xfrm>
            <a:off x="8001000" y="3733800"/>
            <a:ext cx="330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933"/>
                </a:solidFill>
                <a:latin typeface="Calibri"/>
                <a:cs typeface="Calibri"/>
              </a:rPr>
              <a:t>0.900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DC82BB-2B67-814D-BBDA-119F33B223E6}"/>
              </a:ext>
            </a:extLst>
          </p:cNvPr>
          <p:cNvSpPr/>
          <p:nvPr/>
        </p:nvSpPr>
        <p:spPr>
          <a:xfrm>
            <a:off x="6731000" y="4140200"/>
            <a:ext cx="4572000" cy="12700"/>
          </a:xfrm>
          <a:prstGeom prst="rect">
            <a:avLst/>
          </a:prstGeom>
          <a:solidFill>
            <a:srgbClr val="D6CFC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26B8A0-71BF-F145-8352-B83454F674AD}"/>
              </a:ext>
            </a:extLst>
          </p:cNvPr>
          <p:cNvSpPr txBox="1"/>
          <p:nvPr/>
        </p:nvSpPr>
        <p:spPr>
          <a:xfrm>
            <a:off x="6731000" y="4292600"/>
            <a:ext cx="4572000" cy="149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i="1">
                <a:solidFill>
                  <a:srgbClr val="1F2933"/>
                </a:solidFill>
                <a:latin typeface="Calibri"/>
                <a:cs typeface="Calibri"/>
              </a:rPr>
              <a:t>FARM cuts RMSE by ~58% vs. DeepYield and lifts R² by 7.8 pts. Pearson 0.90 indicates predicted yields track the ground-truth trend almost linearly.</a:t>
            </a:r>
          </a:p>
        </p:txBody>
      </p:sp>
    </p:spTree>
    <p:extLst>
      <p:ext uri="{BB962C8B-B14F-4D97-AF65-F5344CB8AC3E}">
        <p14:creationId xmlns:p14="http://schemas.microsoft.com/office/powerpoint/2010/main" val="16817980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26DA4-31EF-63EC-213D-87D0D7287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rgia"/>
              </a:rPr>
              <a:t>Transfer learning works — and the model learns agronomy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CCA465-C54F-C943-A90A-27E786AFDF8A}"/>
              </a:ext>
            </a:extLst>
          </p:cNvPr>
          <p:cNvSpPr/>
          <p:nvPr/>
        </p:nvSpPr>
        <p:spPr>
          <a:xfrm>
            <a:off x="508000" y="2032000"/>
            <a:ext cx="5651500" cy="3937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6CFC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E39788-C7C7-FD42-8F82-8891A07D6EF1}"/>
              </a:ext>
            </a:extLst>
          </p:cNvPr>
          <p:cNvSpPr/>
          <p:nvPr/>
        </p:nvSpPr>
        <p:spPr>
          <a:xfrm>
            <a:off x="508000" y="2032000"/>
            <a:ext cx="5651500" cy="50800"/>
          </a:xfrm>
          <a:prstGeom prst="rect">
            <a:avLst/>
          </a:prstGeom>
          <a:solidFill>
            <a:srgbClr val="5C7A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8E1A2A-3107-EA45-A196-FA3D9B43597C}"/>
              </a:ext>
            </a:extLst>
          </p:cNvPr>
          <p:cNvSpPr txBox="1"/>
          <p:nvPr/>
        </p:nvSpPr>
        <p:spPr>
          <a:xfrm>
            <a:off x="711200" y="2209800"/>
            <a:ext cx="52451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5C7A52"/>
                </a:solidFill>
                <a:latin typeface="Georgia"/>
              </a:rPr>
              <a:t>Validation on independent 10 m yield-monitor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BAFEFF-A9F6-3F41-AFAA-F47C3053D165}"/>
              </a:ext>
            </a:extLst>
          </p:cNvPr>
          <p:cNvSpPr txBox="1"/>
          <p:nvPr/>
        </p:nvSpPr>
        <p:spPr>
          <a:xfrm>
            <a:off x="711200" y="2489200"/>
            <a:ext cx="52451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i="1">
                <a:solidFill>
                  <a:srgbClr val="6B7280"/>
                </a:solidFill>
                <a:latin typeface="Calibri"/>
                <a:cs typeface="Calibri"/>
              </a:rPr>
              <a:t>Canadian Prairies, 2013–2024 — never seen in training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77570A-4386-F047-ACEE-1920DA433532}"/>
              </a:ext>
            </a:extLst>
          </p:cNvPr>
          <p:cNvSpPr txBox="1"/>
          <p:nvPr/>
        </p:nvSpPr>
        <p:spPr>
          <a:xfrm>
            <a:off x="711200" y="2844800"/>
            <a:ext cx="190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F2933"/>
                </a:solidFill>
                <a:latin typeface="Calibri"/>
                <a:cs typeface="Calibri"/>
              </a:rPr>
              <a:t>Zero-shot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BFC2B3-DEE9-BE4C-97CC-CD076FC42F6E}"/>
              </a:ext>
            </a:extLst>
          </p:cNvPr>
          <p:cNvSpPr/>
          <p:nvPr/>
        </p:nvSpPr>
        <p:spPr>
          <a:xfrm>
            <a:off x="2692400" y="2908300"/>
            <a:ext cx="2540000" cy="152400"/>
          </a:xfrm>
          <a:prstGeom prst="rect">
            <a:avLst/>
          </a:prstGeom>
          <a:solidFill>
            <a:srgbClr val="EFEBE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C8F8F4-5254-AB44-84D9-B101F005CFB4}"/>
              </a:ext>
            </a:extLst>
          </p:cNvPr>
          <p:cNvSpPr/>
          <p:nvPr/>
        </p:nvSpPr>
        <p:spPr>
          <a:xfrm>
            <a:off x="2692400" y="2908300"/>
            <a:ext cx="1290320" cy="152400"/>
          </a:xfrm>
          <a:prstGeom prst="rect">
            <a:avLst/>
          </a:prstGeom>
          <a:solidFill>
            <a:srgbClr val="8A857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5EAA6A-8E7F-6E4D-8269-C46E139513C3}"/>
              </a:ext>
            </a:extLst>
          </p:cNvPr>
          <p:cNvSpPr txBox="1"/>
          <p:nvPr/>
        </p:nvSpPr>
        <p:spPr>
          <a:xfrm>
            <a:off x="2692400" y="3124200"/>
            <a:ext cx="355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1F2933"/>
                </a:solidFill>
                <a:latin typeface="Calibri"/>
                <a:cs typeface="Calibri"/>
              </a:rPr>
              <a:t>R² 0.508 · RMSE 0.921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11CC2-EBEA-A84A-A52D-96AA0F0134A8}"/>
              </a:ext>
            </a:extLst>
          </p:cNvPr>
          <p:cNvSpPr txBox="1"/>
          <p:nvPr/>
        </p:nvSpPr>
        <p:spPr>
          <a:xfrm>
            <a:off x="711200" y="3505200"/>
            <a:ext cx="190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1F2933"/>
                </a:solidFill>
                <a:latin typeface="Calibri"/>
                <a:cs typeface="Calibri"/>
              </a:rPr>
              <a:t>Fine-tune on high-res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A7BC1C-B04A-094C-A206-C289B167F72C}"/>
              </a:ext>
            </a:extLst>
          </p:cNvPr>
          <p:cNvSpPr/>
          <p:nvPr/>
        </p:nvSpPr>
        <p:spPr>
          <a:xfrm>
            <a:off x="2692400" y="3568700"/>
            <a:ext cx="2540000" cy="152400"/>
          </a:xfrm>
          <a:prstGeom prst="rect">
            <a:avLst/>
          </a:prstGeom>
          <a:solidFill>
            <a:srgbClr val="EFEBE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0788B6-2A6B-A94E-85A6-D7C9C0BE0879}"/>
              </a:ext>
            </a:extLst>
          </p:cNvPr>
          <p:cNvSpPr/>
          <p:nvPr/>
        </p:nvSpPr>
        <p:spPr>
          <a:xfrm>
            <a:off x="2692400" y="3568700"/>
            <a:ext cx="1950720" cy="152400"/>
          </a:xfrm>
          <a:prstGeom prst="rect">
            <a:avLst/>
          </a:prstGeom>
          <a:solidFill>
            <a:srgbClr val="5C7A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CEB774-169D-A440-8040-AD001EBC0616}"/>
              </a:ext>
            </a:extLst>
          </p:cNvPr>
          <p:cNvSpPr txBox="1"/>
          <p:nvPr/>
        </p:nvSpPr>
        <p:spPr>
          <a:xfrm>
            <a:off x="2692400" y="3784600"/>
            <a:ext cx="355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1F2933"/>
                </a:solidFill>
                <a:latin typeface="Calibri"/>
                <a:cs typeface="Calibri"/>
              </a:rPr>
              <a:t>R² 0.768 · RMSE 0.628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DFC4EE-E5C3-B747-A7D1-084438150A34}"/>
              </a:ext>
            </a:extLst>
          </p:cNvPr>
          <p:cNvSpPr txBox="1"/>
          <p:nvPr/>
        </p:nvSpPr>
        <p:spPr>
          <a:xfrm>
            <a:off x="711200" y="4165600"/>
            <a:ext cx="190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F2933"/>
                </a:solidFill>
                <a:latin typeface="Calibri"/>
                <a:cs typeface="Calibri"/>
              </a:rPr>
              <a:t>From scratch on high-res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043A58-A0B9-FE43-99FB-072AE197E86A}"/>
              </a:ext>
            </a:extLst>
          </p:cNvPr>
          <p:cNvSpPr/>
          <p:nvPr/>
        </p:nvSpPr>
        <p:spPr>
          <a:xfrm>
            <a:off x="2692400" y="4229100"/>
            <a:ext cx="2540000" cy="152400"/>
          </a:xfrm>
          <a:prstGeom prst="rect">
            <a:avLst/>
          </a:prstGeom>
          <a:solidFill>
            <a:srgbClr val="EFEBE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ABADCB-175E-E04F-8A0A-63457EC91AEF}"/>
              </a:ext>
            </a:extLst>
          </p:cNvPr>
          <p:cNvSpPr/>
          <p:nvPr/>
        </p:nvSpPr>
        <p:spPr>
          <a:xfrm>
            <a:off x="2692400" y="4229100"/>
            <a:ext cx="1714500" cy="152400"/>
          </a:xfrm>
          <a:prstGeom prst="rect">
            <a:avLst/>
          </a:prstGeom>
          <a:solidFill>
            <a:srgbClr val="B36A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F56D3A-8797-374A-BD4F-D3C64A3B4CBD}"/>
              </a:ext>
            </a:extLst>
          </p:cNvPr>
          <p:cNvSpPr txBox="1"/>
          <p:nvPr/>
        </p:nvSpPr>
        <p:spPr>
          <a:xfrm>
            <a:off x="2692400" y="4445000"/>
            <a:ext cx="355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1F2933"/>
                </a:solidFill>
                <a:latin typeface="Calibri"/>
                <a:cs typeface="Calibri"/>
              </a:rPr>
              <a:t>R² 0.675 · RMSE 0.557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973A84-9846-8140-8116-6177F2E23BA6}"/>
              </a:ext>
            </a:extLst>
          </p:cNvPr>
          <p:cNvSpPr txBox="1"/>
          <p:nvPr/>
        </p:nvSpPr>
        <p:spPr>
          <a:xfrm>
            <a:off x="711200" y="5080000"/>
            <a:ext cx="52451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i="1">
                <a:solidFill>
                  <a:srgbClr val="2E4A66"/>
                </a:solidFill>
                <a:latin typeface="Calibri"/>
                <a:cs typeface="Calibri"/>
              </a:rPr>
              <a:t>Fine-tuning the county-level pre-trained FARM beats training from scratch on the same scarce high-res data — confirms the transfer-learning hypothesis.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4C5AA7-1BBF-3441-A28D-7AF2E4D663C9}"/>
              </a:ext>
            </a:extLst>
          </p:cNvPr>
          <p:cNvSpPr/>
          <p:nvPr/>
        </p:nvSpPr>
        <p:spPr>
          <a:xfrm>
            <a:off x="6477000" y="2032000"/>
            <a:ext cx="5270500" cy="3937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6CFC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4776C7-2F92-3741-83AA-E6747B76B391}"/>
              </a:ext>
            </a:extLst>
          </p:cNvPr>
          <p:cNvSpPr/>
          <p:nvPr/>
        </p:nvSpPr>
        <p:spPr>
          <a:xfrm>
            <a:off x="6477000" y="2032000"/>
            <a:ext cx="5270500" cy="50800"/>
          </a:xfrm>
          <a:prstGeom prst="rect">
            <a:avLst/>
          </a:prstGeom>
          <a:solidFill>
            <a:srgbClr val="B36A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1EA5AA-5916-C040-8B65-FAD53CEB7F41}"/>
              </a:ext>
            </a:extLst>
          </p:cNvPr>
          <p:cNvSpPr txBox="1"/>
          <p:nvPr/>
        </p:nvSpPr>
        <p:spPr>
          <a:xfrm>
            <a:off x="6680200" y="2209800"/>
            <a:ext cx="48641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B36A3E"/>
                </a:solidFill>
                <a:latin typeface="Georgia"/>
              </a:rPr>
              <a:t>Interpretability — what the model attends to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C4182E-5DF0-1445-92E7-CCEDB8FCA3FE}"/>
              </a:ext>
            </a:extLst>
          </p:cNvPr>
          <p:cNvSpPr txBox="1"/>
          <p:nvPr/>
        </p:nvSpPr>
        <p:spPr>
          <a:xfrm>
            <a:off x="6680200" y="2616200"/>
            <a:ext cx="48641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5C7A52"/>
                </a:solidFill>
                <a:latin typeface="Calibri"/>
                <a:cs typeface="Calibri"/>
              </a:rPr>
              <a:t>Temporal attention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B8C7279-F38E-264F-BA58-30DDFAF4A589}"/>
              </a:ext>
            </a:extLst>
          </p:cNvPr>
          <p:cNvSpPr/>
          <p:nvPr/>
        </p:nvSpPr>
        <p:spPr>
          <a:xfrm>
            <a:off x="6781800" y="3505200"/>
            <a:ext cx="769619" cy="177800"/>
          </a:xfrm>
          <a:prstGeom prst="rect">
            <a:avLst/>
          </a:prstGeom>
          <a:solidFill>
            <a:srgbClr val="D2C5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959D0C-DC40-7146-A765-48339FFB654F}"/>
              </a:ext>
            </a:extLst>
          </p:cNvPr>
          <p:cNvSpPr txBox="1"/>
          <p:nvPr/>
        </p:nvSpPr>
        <p:spPr>
          <a:xfrm>
            <a:off x="6680200" y="3708400"/>
            <a:ext cx="972819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F2933"/>
                </a:solidFill>
                <a:latin typeface="Calibri"/>
                <a:cs typeface="Calibri"/>
              </a:rPr>
              <a:t>May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DA806F2-7114-F940-921F-BB849ED0AE91}"/>
              </a:ext>
            </a:extLst>
          </p:cNvPr>
          <p:cNvSpPr/>
          <p:nvPr/>
        </p:nvSpPr>
        <p:spPr>
          <a:xfrm>
            <a:off x="7754620" y="3362960"/>
            <a:ext cx="769619" cy="320040"/>
          </a:xfrm>
          <a:prstGeom prst="rect">
            <a:avLst/>
          </a:prstGeom>
          <a:solidFill>
            <a:srgbClr val="D2C5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90B6BF-1632-F043-89F7-AA53BA2FDDD1}"/>
              </a:ext>
            </a:extLst>
          </p:cNvPr>
          <p:cNvSpPr txBox="1"/>
          <p:nvPr/>
        </p:nvSpPr>
        <p:spPr>
          <a:xfrm>
            <a:off x="7653020" y="3708400"/>
            <a:ext cx="972819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F2933"/>
                </a:solidFill>
                <a:latin typeface="Calibri"/>
                <a:cs typeface="Calibri"/>
              </a:rPr>
              <a:t>Jun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45DFDEF-0970-4840-9E7C-E287DD73B3CF}"/>
              </a:ext>
            </a:extLst>
          </p:cNvPr>
          <p:cNvSpPr/>
          <p:nvPr/>
        </p:nvSpPr>
        <p:spPr>
          <a:xfrm>
            <a:off x="8727440" y="2971800"/>
            <a:ext cx="769619" cy="711200"/>
          </a:xfrm>
          <a:prstGeom prst="rect">
            <a:avLst/>
          </a:prstGeom>
          <a:solidFill>
            <a:srgbClr val="B36A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237917-10B9-CD41-A061-A0367794B168}"/>
              </a:ext>
            </a:extLst>
          </p:cNvPr>
          <p:cNvSpPr txBox="1"/>
          <p:nvPr/>
        </p:nvSpPr>
        <p:spPr>
          <a:xfrm>
            <a:off x="8625840" y="3708400"/>
            <a:ext cx="972819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1F2933"/>
                </a:solidFill>
                <a:latin typeface="Calibri"/>
                <a:cs typeface="Calibri"/>
              </a:rPr>
              <a:t>Jul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CBE82B7-F87C-8942-98FB-9A4A1118BFD6}"/>
              </a:ext>
            </a:extLst>
          </p:cNvPr>
          <p:cNvSpPr/>
          <p:nvPr/>
        </p:nvSpPr>
        <p:spPr>
          <a:xfrm>
            <a:off x="9700260" y="3128264"/>
            <a:ext cx="769619" cy="554736"/>
          </a:xfrm>
          <a:prstGeom prst="rect">
            <a:avLst/>
          </a:prstGeom>
          <a:solidFill>
            <a:srgbClr val="D2C5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E0B9EC-42D8-C240-A086-3C8AC8A055F5}"/>
              </a:ext>
            </a:extLst>
          </p:cNvPr>
          <p:cNvSpPr txBox="1"/>
          <p:nvPr/>
        </p:nvSpPr>
        <p:spPr>
          <a:xfrm>
            <a:off x="9598660" y="3708400"/>
            <a:ext cx="972819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F2933"/>
                </a:solidFill>
                <a:latin typeface="Calibri"/>
                <a:cs typeface="Calibri"/>
              </a:rPr>
              <a:t>Aug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6BD302-19E7-C949-BF39-B8DA3C31BD39}"/>
              </a:ext>
            </a:extLst>
          </p:cNvPr>
          <p:cNvSpPr/>
          <p:nvPr/>
        </p:nvSpPr>
        <p:spPr>
          <a:xfrm>
            <a:off x="10673080" y="3398520"/>
            <a:ext cx="769619" cy="284480"/>
          </a:xfrm>
          <a:prstGeom prst="rect">
            <a:avLst/>
          </a:prstGeom>
          <a:solidFill>
            <a:srgbClr val="D2C5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22F465-8058-FE4E-AAB2-3068D96D39D1}"/>
              </a:ext>
            </a:extLst>
          </p:cNvPr>
          <p:cNvSpPr txBox="1"/>
          <p:nvPr/>
        </p:nvSpPr>
        <p:spPr>
          <a:xfrm>
            <a:off x="10571480" y="3708400"/>
            <a:ext cx="972819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1F2933"/>
                </a:solidFill>
                <a:latin typeface="Calibri"/>
                <a:cs typeface="Calibri"/>
              </a:rPr>
              <a:t>Sep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69C650-827D-4E42-9CD8-195CBB243E18}"/>
              </a:ext>
            </a:extLst>
          </p:cNvPr>
          <p:cNvSpPr txBox="1"/>
          <p:nvPr/>
        </p:nvSpPr>
        <p:spPr>
          <a:xfrm>
            <a:off x="6680200" y="4013200"/>
            <a:ext cx="48641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i="1">
                <a:solidFill>
                  <a:srgbClr val="6B7280"/>
                </a:solidFill>
                <a:latin typeface="Calibri"/>
                <a:cs typeface="Calibri"/>
              </a:rPr>
              <a:t>Peaks in July (flowering &amp; pod-fill) — agronomically the right window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607784-9173-EC43-ADE6-93A5FDA89EAC}"/>
              </a:ext>
            </a:extLst>
          </p:cNvPr>
          <p:cNvSpPr txBox="1"/>
          <p:nvPr/>
        </p:nvSpPr>
        <p:spPr>
          <a:xfrm>
            <a:off x="6680200" y="4368800"/>
            <a:ext cx="48641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5C7A52"/>
                </a:solidFill>
                <a:latin typeface="Calibri"/>
                <a:cs typeface="Calibri"/>
              </a:rPr>
              <a:t>Spectral band importance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FB900C-B8DE-1045-8126-3D88E9C7FD5A}"/>
              </a:ext>
            </a:extLst>
          </p:cNvPr>
          <p:cNvSpPr txBox="1"/>
          <p:nvPr/>
        </p:nvSpPr>
        <p:spPr>
          <a:xfrm>
            <a:off x="6680200" y="4648200"/>
            <a:ext cx="990600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1F2933"/>
                </a:solidFill>
                <a:latin typeface="Calibri"/>
                <a:cs typeface="Calibri"/>
              </a:rPr>
              <a:t>NIR-Narrow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7211E2C-88A6-A94B-9123-FDB744955531}"/>
              </a:ext>
            </a:extLst>
          </p:cNvPr>
          <p:cNvSpPr/>
          <p:nvPr/>
        </p:nvSpPr>
        <p:spPr>
          <a:xfrm>
            <a:off x="7721600" y="4686300"/>
            <a:ext cx="3771900" cy="101600"/>
          </a:xfrm>
          <a:prstGeom prst="rect">
            <a:avLst/>
          </a:prstGeom>
          <a:solidFill>
            <a:srgbClr val="2E4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123F14-7C8E-E340-9BEE-0ED7489D37D7}"/>
              </a:ext>
            </a:extLst>
          </p:cNvPr>
          <p:cNvSpPr txBox="1"/>
          <p:nvPr/>
        </p:nvSpPr>
        <p:spPr>
          <a:xfrm>
            <a:off x="6680200" y="4826000"/>
            <a:ext cx="990600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1F2933"/>
                </a:solidFill>
                <a:latin typeface="Calibri"/>
                <a:cs typeface="Calibri"/>
              </a:rPr>
              <a:t>SWIR-1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4C62112-4216-4948-90FE-7C07208A66AA}"/>
              </a:ext>
            </a:extLst>
          </p:cNvPr>
          <p:cNvSpPr/>
          <p:nvPr/>
        </p:nvSpPr>
        <p:spPr>
          <a:xfrm>
            <a:off x="7721600" y="4864100"/>
            <a:ext cx="3206115" cy="101600"/>
          </a:xfrm>
          <a:prstGeom prst="rect">
            <a:avLst/>
          </a:prstGeom>
          <a:solidFill>
            <a:srgbClr val="2E4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09A5FC-A63B-834F-A02B-A0EC5207FD6A}"/>
              </a:ext>
            </a:extLst>
          </p:cNvPr>
          <p:cNvSpPr txBox="1"/>
          <p:nvPr/>
        </p:nvSpPr>
        <p:spPr>
          <a:xfrm>
            <a:off x="6680200" y="5003800"/>
            <a:ext cx="990600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1F2933"/>
                </a:solidFill>
                <a:latin typeface="Calibri"/>
                <a:cs typeface="Calibri"/>
              </a:rPr>
              <a:t>SWIR-2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A54D33D-7BE9-3B4B-8BA0-3C5D36FF0367}"/>
              </a:ext>
            </a:extLst>
          </p:cNvPr>
          <p:cNvSpPr/>
          <p:nvPr/>
        </p:nvSpPr>
        <p:spPr>
          <a:xfrm>
            <a:off x="7721600" y="5041900"/>
            <a:ext cx="2942082" cy="101600"/>
          </a:xfrm>
          <a:prstGeom prst="rect">
            <a:avLst/>
          </a:prstGeom>
          <a:solidFill>
            <a:srgbClr val="2E4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230BC6-53FA-DC4B-86EA-1043B4B7F9A7}"/>
              </a:ext>
            </a:extLst>
          </p:cNvPr>
          <p:cNvSpPr txBox="1"/>
          <p:nvPr/>
        </p:nvSpPr>
        <p:spPr>
          <a:xfrm>
            <a:off x="6680200" y="5181600"/>
            <a:ext cx="990600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1F2933"/>
                </a:solidFill>
                <a:latin typeface="Calibri"/>
                <a:cs typeface="Calibri"/>
              </a:rPr>
              <a:t>Red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65F3835-B44E-4445-B039-6EE1D0D9198E}"/>
              </a:ext>
            </a:extLst>
          </p:cNvPr>
          <p:cNvSpPr/>
          <p:nvPr/>
        </p:nvSpPr>
        <p:spPr>
          <a:xfrm>
            <a:off x="7721600" y="5219700"/>
            <a:ext cx="1885950" cy="101600"/>
          </a:xfrm>
          <a:prstGeom prst="rect">
            <a:avLst/>
          </a:prstGeom>
          <a:solidFill>
            <a:srgbClr val="2E4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E37215C-0E2B-1747-A800-7871C3E15568}"/>
              </a:ext>
            </a:extLst>
          </p:cNvPr>
          <p:cNvSpPr txBox="1"/>
          <p:nvPr/>
        </p:nvSpPr>
        <p:spPr>
          <a:xfrm>
            <a:off x="6680200" y="5359400"/>
            <a:ext cx="990600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1F2933"/>
                </a:solidFill>
                <a:latin typeface="Calibri"/>
                <a:cs typeface="Calibri"/>
              </a:rPr>
              <a:t>Green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A8BC3FF-B2B3-D148-BE83-8E4D4BEF5780}"/>
              </a:ext>
            </a:extLst>
          </p:cNvPr>
          <p:cNvSpPr/>
          <p:nvPr/>
        </p:nvSpPr>
        <p:spPr>
          <a:xfrm>
            <a:off x="7721600" y="5397500"/>
            <a:ext cx="1207008" cy="101600"/>
          </a:xfrm>
          <a:prstGeom prst="rect">
            <a:avLst/>
          </a:prstGeom>
          <a:solidFill>
            <a:srgbClr val="2E4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055C807-F6C8-B14D-B17D-77D95044EF00}"/>
              </a:ext>
            </a:extLst>
          </p:cNvPr>
          <p:cNvSpPr txBox="1"/>
          <p:nvPr/>
        </p:nvSpPr>
        <p:spPr>
          <a:xfrm>
            <a:off x="6680200" y="5537200"/>
            <a:ext cx="990600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1F2933"/>
                </a:solidFill>
                <a:latin typeface="Calibri"/>
                <a:cs typeface="Calibri"/>
              </a:rPr>
              <a:t>Blue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FCD6C93-6244-C84B-8A2F-43944061374A}"/>
              </a:ext>
            </a:extLst>
          </p:cNvPr>
          <p:cNvSpPr/>
          <p:nvPr/>
        </p:nvSpPr>
        <p:spPr>
          <a:xfrm>
            <a:off x="7721600" y="5575300"/>
            <a:ext cx="1056132" cy="101600"/>
          </a:xfrm>
          <a:prstGeom prst="rect">
            <a:avLst/>
          </a:prstGeom>
          <a:solidFill>
            <a:srgbClr val="2E4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081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F74E9-3BF8-EC84-C0B4-E05151EA4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rgia"/>
              </a:rPr>
              <a:t>Limitations &amp; proposed solutions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7E2A59-250E-B743-820F-44C36952EC0F}"/>
              </a:ext>
            </a:extLst>
          </p:cNvPr>
          <p:cNvSpPr txBox="1"/>
          <p:nvPr/>
        </p:nvSpPr>
        <p:spPr>
          <a:xfrm>
            <a:off x="508000" y="19050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B36A3E"/>
                </a:solidFill>
                <a:latin typeface="Calibri"/>
                <a:cs typeface="Calibri"/>
              </a:rPr>
              <a:t>LIMITATION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E3B53C-42DB-FB42-9AD5-7AA7F5F320B0}"/>
              </a:ext>
            </a:extLst>
          </p:cNvPr>
          <p:cNvSpPr txBox="1"/>
          <p:nvPr/>
        </p:nvSpPr>
        <p:spPr>
          <a:xfrm>
            <a:off x="6350000" y="19050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5C7A52"/>
                </a:solidFill>
                <a:latin typeface="Calibri"/>
                <a:cs typeface="Calibri"/>
              </a:rPr>
              <a:t>PROPOSED PATH FORWARD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197AC2-48CD-A04A-A22D-F0229B509A33}"/>
              </a:ext>
            </a:extLst>
          </p:cNvPr>
          <p:cNvSpPr/>
          <p:nvPr/>
        </p:nvSpPr>
        <p:spPr>
          <a:xfrm>
            <a:off x="6045200" y="1905000"/>
            <a:ext cx="12700" cy="4826000"/>
          </a:xfrm>
          <a:prstGeom prst="rect">
            <a:avLst/>
          </a:prstGeom>
          <a:solidFill>
            <a:srgbClr val="D6CFC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9EA6705-DEAD-D04F-A931-69D2472A7EA0}"/>
              </a:ext>
            </a:extLst>
          </p:cNvPr>
          <p:cNvSpPr/>
          <p:nvPr/>
        </p:nvSpPr>
        <p:spPr>
          <a:xfrm>
            <a:off x="508000" y="2400300"/>
            <a:ext cx="101600" cy="101600"/>
          </a:xfrm>
          <a:prstGeom prst="ellipse">
            <a:avLst/>
          </a:prstGeom>
          <a:solidFill>
            <a:srgbClr val="B36A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8FEA26-8E86-F34D-B5D0-000B85C07C9B}"/>
              </a:ext>
            </a:extLst>
          </p:cNvPr>
          <p:cNvSpPr txBox="1"/>
          <p:nvPr/>
        </p:nvSpPr>
        <p:spPr>
          <a:xfrm>
            <a:off x="736600" y="2311400"/>
            <a:ext cx="5003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F2933"/>
                </a:solidFill>
                <a:latin typeface="Calibri"/>
                <a:cs typeface="Calibri"/>
              </a:rPr>
              <a:t>Single crop, single region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0B4285-91BB-2143-8C30-36A397A9FF63}"/>
              </a:ext>
            </a:extLst>
          </p:cNvPr>
          <p:cNvSpPr txBox="1"/>
          <p:nvPr/>
        </p:nvSpPr>
        <p:spPr>
          <a:xfrm>
            <a:off x="736600" y="2590800"/>
            <a:ext cx="5003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4A5260"/>
                </a:solidFill>
                <a:latin typeface="Calibri"/>
                <a:cs typeface="Calibri"/>
              </a:rPr>
              <a:t>Trained &amp; validated on canola in the Canadian Prairies only.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2C0DDAC-3CB3-A84F-A285-C9D7218FADCE}"/>
              </a:ext>
            </a:extLst>
          </p:cNvPr>
          <p:cNvSpPr/>
          <p:nvPr/>
        </p:nvSpPr>
        <p:spPr>
          <a:xfrm>
            <a:off x="6350000" y="2400300"/>
            <a:ext cx="101600" cy="101600"/>
          </a:xfrm>
          <a:prstGeom prst="ellipse">
            <a:avLst/>
          </a:prstGeom>
          <a:solidFill>
            <a:srgbClr val="5C7A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A0FBF2-20E9-B548-B56B-E39C24338A47}"/>
              </a:ext>
            </a:extLst>
          </p:cNvPr>
          <p:cNvSpPr txBox="1"/>
          <p:nvPr/>
        </p:nvSpPr>
        <p:spPr>
          <a:xfrm>
            <a:off x="6578600" y="2311400"/>
            <a:ext cx="5003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F2933"/>
                </a:solidFill>
                <a:latin typeface="Calibri"/>
                <a:cs typeface="Calibri"/>
              </a:rPr>
              <a:t>Multi-crop fine-tuning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48DA4C-AFB5-2E44-8DB5-00A001D6F028}"/>
              </a:ext>
            </a:extLst>
          </p:cNvPr>
          <p:cNvSpPr txBox="1"/>
          <p:nvPr/>
        </p:nvSpPr>
        <p:spPr>
          <a:xfrm>
            <a:off x="6578600" y="2590800"/>
            <a:ext cx="5003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4A5260"/>
                </a:solidFill>
                <a:latin typeface="Calibri"/>
                <a:cs typeface="Calibri"/>
              </a:rPr>
              <a:t>Adapt to wheat first; test whether shared geospatial representations transfer across phenologies.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A315688-51EB-C946-99B7-64EEE06BF747}"/>
              </a:ext>
            </a:extLst>
          </p:cNvPr>
          <p:cNvSpPr/>
          <p:nvPr/>
        </p:nvSpPr>
        <p:spPr>
          <a:xfrm>
            <a:off x="508000" y="3263900"/>
            <a:ext cx="101600" cy="101600"/>
          </a:xfrm>
          <a:prstGeom prst="ellipse">
            <a:avLst/>
          </a:prstGeom>
          <a:solidFill>
            <a:srgbClr val="B36A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69EA06-9953-A247-B7F4-022B782EBDFF}"/>
              </a:ext>
            </a:extLst>
          </p:cNvPr>
          <p:cNvSpPr txBox="1"/>
          <p:nvPr/>
        </p:nvSpPr>
        <p:spPr>
          <a:xfrm>
            <a:off x="736600" y="3175000"/>
            <a:ext cx="5003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F2933"/>
                </a:solidFill>
                <a:latin typeface="Calibri"/>
                <a:cs typeface="Calibri"/>
              </a:rPr>
              <a:t>Imagery-only inputs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A30D72-79CB-AF45-A661-FE0F18981CB5}"/>
              </a:ext>
            </a:extLst>
          </p:cNvPr>
          <p:cNvSpPr txBox="1"/>
          <p:nvPr/>
        </p:nvSpPr>
        <p:spPr>
          <a:xfrm>
            <a:off x="736600" y="3454400"/>
            <a:ext cx="5003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4A5260"/>
                </a:solidFill>
                <a:latin typeface="Calibri"/>
                <a:cs typeface="Calibri"/>
              </a:rPr>
              <a:t>No meteorological or soil data alongside HLS multi-temporal imagery.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11F9DE1-7EAD-2742-BE55-0ADFB4519E99}"/>
              </a:ext>
            </a:extLst>
          </p:cNvPr>
          <p:cNvSpPr/>
          <p:nvPr/>
        </p:nvSpPr>
        <p:spPr>
          <a:xfrm>
            <a:off x="6350000" y="3263900"/>
            <a:ext cx="101600" cy="101600"/>
          </a:xfrm>
          <a:prstGeom prst="ellipse">
            <a:avLst/>
          </a:prstGeom>
          <a:solidFill>
            <a:srgbClr val="5C7A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668C93-46B2-624A-AD67-5ACC6442705F}"/>
              </a:ext>
            </a:extLst>
          </p:cNvPr>
          <p:cNvSpPr txBox="1"/>
          <p:nvPr/>
        </p:nvSpPr>
        <p:spPr>
          <a:xfrm>
            <a:off x="6578600" y="3175000"/>
            <a:ext cx="5003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F2933"/>
                </a:solidFill>
                <a:latin typeface="Calibri"/>
                <a:cs typeface="Calibri"/>
              </a:rPr>
              <a:t>Multi-modal fusion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8C139D-A075-2D40-8C53-07B88F71362D}"/>
              </a:ext>
            </a:extLst>
          </p:cNvPr>
          <p:cNvSpPr txBox="1"/>
          <p:nvPr/>
        </p:nvSpPr>
        <p:spPr>
          <a:xfrm>
            <a:off x="6578600" y="3454400"/>
            <a:ext cx="5003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4A5260"/>
                </a:solidFill>
                <a:latin typeface="Calibri"/>
                <a:cs typeface="Calibri"/>
              </a:rPr>
              <a:t>Inject weather time-series and soil property layers as auxiliary input branches.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230B27B-75D6-9E48-8C13-ECD048F48985}"/>
              </a:ext>
            </a:extLst>
          </p:cNvPr>
          <p:cNvSpPr/>
          <p:nvPr/>
        </p:nvSpPr>
        <p:spPr>
          <a:xfrm>
            <a:off x="508000" y="4127500"/>
            <a:ext cx="101600" cy="101600"/>
          </a:xfrm>
          <a:prstGeom prst="ellipse">
            <a:avLst/>
          </a:prstGeom>
          <a:solidFill>
            <a:srgbClr val="B36A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8FD3A2-ED11-4D4F-8C2A-3C1A94D22D97}"/>
              </a:ext>
            </a:extLst>
          </p:cNvPr>
          <p:cNvSpPr txBox="1"/>
          <p:nvPr/>
        </p:nvSpPr>
        <p:spPr>
          <a:xfrm>
            <a:off x="736600" y="4038600"/>
            <a:ext cx="5003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F2933"/>
                </a:solidFill>
                <a:latin typeface="Calibri"/>
                <a:cs typeface="Calibri"/>
              </a:rPr>
              <a:t>Sparse high-resolution ground truth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91BFF4-D53B-1144-9457-600477251CA7}"/>
              </a:ext>
            </a:extLst>
          </p:cNvPr>
          <p:cNvSpPr txBox="1"/>
          <p:nvPr/>
        </p:nvSpPr>
        <p:spPr>
          <a:xfrm>
            <a:off x="736600" y="4318000"/>
            <a:ext cx="5003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4A5260"/>
                </a:solidFill>
                <a:latin typeface="Calibri"/>
                <a:cs typeface="Calibri"/>
              </a:rPr>
              <a:t>From-scratch model (R² 0.68) underperformed fine-tuned (R² 0.77) — data-limited.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E41EDCC-B886-0E44-9C4E-8A0C28AB43E6}"/>
              </a:ext>
            </a:extLst>
          </p:cNvPr>
          <p:cNvSpPr/>
          <p:nvPr/>
        </p:nvSpPr>
        <p:spPr>
          <a:xfrm>
            <a:off x="6350000" y="4127500"/>
            <a:ext cx="101600" cy="101600"/>
          </a:xfrm>
          <a:prstGeom prst="ellipse">
            <a:avLst/>
          </a:prstGeom>
          <a:solidFill>
            <a:srgbClr val="5C7A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E61FAA-501E-B14F-A706-165F39176AC6}"/>
              </a:ext>
            </a:extLst>
          </p:cNvPr>
          <p:cNvSpPr txBox="1"/>
          <p:nvPr/>
        </p:nvSpPr>
        <p:spPr>
          <a:xfrm>
            <a:off x="6578600" y="4038600"/>
            <a:ext cx="5003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F2933"/>
                </a:solidFill>
                <a:latin typeface="Calibri"/>
                <a:cs typeface="Calibri"/>
              </a:rPr>
              <a:t>Continue transfer-learning pipeline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7B882E-4C24-B144-A5F2-A1F72A6089E2}"/>
              </a:ext>
            </a:extLst>
          </p:cNvPr>
          <p:cNvSpPr txBox="1"/>
          <p:nvPr/>
        </p:nvSpPr>
        <p:spPr>
          <a:xfrm>
            <a:off x="6578600" y="4318000"/>
            <a:ext cx="5003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4A5260"/>
                </a:solidFill>
                <a:latin typeface="Calibri"/>
                <a:cs typeface="Calibri"/>
              </a:rPr>
              <a:t>Use upsampled county-level data as a foundation; periodically refresh with new yield-monitor harvests.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87E69B7-8E85-6847-A17B-7E67E75600CB}"/>
              </a:ext>
            </a:extLst>
          </p:cNvPr>
          <p:cNvSpPr/>
          <p:nvPr/>
        </p:nvSpPr>
        <p:spPr>
          <a:xfrm>
            <a:off x="508000" y="4991100"/>
            <a:ext cx="101600" cy="101600"/>
          </a:xfrm>
          <a:prstGeom prst="ellipse">
            <a:avLst/>
          </a:prstGeom>
          <a:solidFill>
            <a:srgbClr val="B36A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A1A14C-00E4-704E-A303-D43A8B2F83AE}"/>
              </a:ext>
            </a:extLst>
          </p:cNvPr>
          <p:cNvSpPr txBox="1"/>
          <p:nvPr/>
        </p:nvSpPr>
        <p:spPr>
          <a:xfrm>
            <a:off x="736600" y="4902200"/>
            <a:ext cx="5003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F2933"/>
                </a:solidFill>
                <a:latin typeface="Calibri"/>
                <a:cs typeface="Calibri"/>
              </a:rPr>
              <a:t>No uncertainty estimates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BA2D9B-45B3-634F-AEC2-1BC2EA9A54DF}"/>
              </a:ext>
            </a:extLst>
          </p:cNvPr>
          <p:cNvSpPr txBox="1"/>
          <p:nvPr/>
        </p:nvSpPr>
        <p:spPr>
          <a:xfrm>
            <a:off x="736600" y="5181600"/>
            <a:ext cx="5003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4A5260"/>
                </a:solidFill>
                <a:latin typeface="Calibri"/>
                <a:cs typeface="Calibri"/>
              </a:rPr>
              <a:t>Predictions are point values — limits trust in automated VRA decisions.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2C5CB2D-E6EF-3848-94CC-3BBF9D6A2443}"/>
              </a:ext>
            </a:extLst>
          </p:cNvPr>
          <p:cNvSpPr/>
          <p:nvPr/>
        </p:nvSpPr>
        <p:spPr>
          <a:xfrm>
            <a:off x="6350000" y="4991100"/>
            <a:ext cx="101600" cy="101600"/>
          </a:xfrm>
          <a:prstGeom prst="ellipse">
            <a:avLst/>
          </a:prstGeom>
          <a:solidFill>
            <a:srgbClr val="5C7A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035FAD-E6FD-CA43-AC08-114475A25B36}"/>
              </a:ext>
            </a:extLst>
          </p:cNvPr>
          <p:cNvSpPr txBox="1"/>
          <p:nvPr/>
        </p:nvSpPr>
        <p:spPr>
          <a:xfrm>
            <a:off x="6578600" y="4902200"/>
            <a:ext cx="5003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F2933"/>
                </a:solidFill>
                <a:latin typeface="Calibri"/>
                <a:cs typeface="Calibri"/>
              </a:rPr>
              <a:t>Add uncertainty quantification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EC8ED9-2F71-F84B-8CD6-82476E360922}"/>
              </a:ext>
            </a:extLst>
          </p:cNvPr>
          <p:cNvSpPr txBox="1"/>
          <p:nvPr/>
        </p:nvSpPr>
        <p:spPr>
          <a:xfrm>
            <a:off x="6578600" y="5181600"/>
            <a:ext cx="5003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4A5260"/>
                </a:solidFill>
                <a:latin typeface="Calibri"/>
                <a:cs typeface="Calibri"/>
              </a:rPr>
              <a:t>Heteroscedastic regression head or MC-dropout to emit per-pixel confidence intervals.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C0F378A-6B99-2147-ACCB-8F14693DFA11}"/>
              </a:ext>
            </a:extLst>
          </p:cNvPr>
          <p:cNvSpPr/>
          <p:nvPr/>
        </p:nvSpPr>
        <p:spPr>
          <a:xfrm>
            <a:off x="508000" y="5854700"/>
            <a:ext cx="101600" cy="101600"/>
          </a:xfrm>
          <a:prstGeom prst="ellipse">
            <a:avLst/>
          </a:prstGeom>
          <a:solidFill>
            <a:srgbClr val="B36A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0A032D-9F27-3A4D-AB93-F73384F7CA5A}"/>
              </a:ext>
            </a:extLst>
          </p:cNvPr>
          <p:cNvSpPr txBox="1"/>
          <p:nvPr/>
        </p:nvSpPr>
        <p:spPr>
          <a:xfrm>
            <a:off x="736600" y="5765800"/>
            <a:ext cx="5003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F2933"/>
                </a:solidFill>
                <a:latin typeface="Calibri"/>
                <a:cs typeface="Calibri"/>
              </a:rPr>
              <a:t>Not yet deployment-ready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D5910C-DE27-A546-92E5-4A68875B21BB}"/>
              </a:ext>
            </a:extLst>
          </p:cNvPr>
          <p:cNvSpPr txBox="1"/>
          <p:nvPr/>
        </p:nvSpPr>
        <p:spPr>
          <a:xfrm>
            <a:off x="736600" y="6045200"/>
            <a:ext cx="5003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4A5260"/>
                </a:solidFill>
                <a:latin typeface="Calibri"/>
                <a:cs typeface="Calibri"/>
              </a:rPr>
              <a:t>HLS-to-inference latency and no FMIS integration limit in-season use.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D227193-0BE6-914D-B24B-7CB12C01AEC6}"/>
              </a:ext>
            </a:extLst>
          </p:cNvPr>
          <p:cNvSpPr/>
          <p:nvPr/>
        </p:nvSpPr>
        <p:spPr>
          <a:xfrm>
            <a:off x="6350000" y="5854700"/>
            <a:ext cx="101600" cy="101600"/>
          </a:xfrm>
          <a:prstGeom prst="ellipse">
            <a:avLst/>
          </a:prstGeom>
          <a:solidFill>
            <a:srgbClr val="5C7A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40FAEEE-FE5A-5B44-8954-C3C4CFE79D9F}"/>
              </a:ext>
            </a:extLst>
          </p:cNvPr>
          <p:cNvSpPr txBox="1"/>
          <p:nvPr/>
        </p:nvSpPr>
        <p:spPr>
          <a:xfrm>
            <a:off x="6578600" y="5765800"/>
            <a:ext cx="5003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F2933"/>
                </a:solidFill>
                <a:latin typeface="Calibri"/>
                <a:cs typeface="Calibri"/>
              </a:rPr>
              <a:t>FMIS / VRA integration + faster pipeline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0C9FDF-AB83-0349-A38C-29C222620AA8}"/>
              </a:ext>
            </a:extLst>
          </p:cNvPr>
          <p:cNvSpPr txBox="1"/>
          <p:nvPr/>
        </p:nvSpPr>
        <p:spPr>
          <a:xfrm>
            <a:off x="6578600" y="6045200"/>
            <a:ext cx="5003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4A5260"/>
                </a:solidFill>
                <a:latin typeface="Calibri"/>
                <a:cs typeface="Calibri"/>
              </a:rPr>
              <a:t>Stream predictions into Farm Management Information Systems as a VRA prescription layer; shorten satellite-to-inference latency.</a:t>
            </a:r>
          </a:p>
        </p:txBody>
      </p:sp>
    </p:spTree>
    <p:extLst>
      <p:ext uri="{BB962C8B-B14F-4D97-AF65-F5344CB8AC3E}">
        <p14:creationId xmlns:p14="http://schemas.microsoft.com/office/powerpoint/2010/main" val="26513245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130643-98C5-FF4C-962F-06EE944876E9}"/>
              </a:ext>
            </a:extLst>
          </p:cNvPr>
          <p:cNvSpPr txBox="1"/>
          <p:nvPr/>
        </p:nvSpPr>
        <p:spPr>
          <a:xfrm>
            <a:off x="1016000" y="1270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5C7A52"/>
                </a:solidFill>
                <a:latin typeface="Calibri"/>
                <a:cs typeface="Calibri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82E85D-5F2A-B446-9F85-B7852A46F574}"/>
              </a:ext>
            </a:extLst>
          </p:cNvPr>
          <p:cNvSpPr txBox="1"/>
          <p:nvPr/>
        </p:nvSpPr>
        <p:spPr>
          <a:xfrm>
            <a:off x="1016000" y="1676400"/>
            <a:ext cx="1016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400" b="1">
                <a:solidFill>
                  <a:srgbClr val="1F2933"/>
                </a:solidFill>
                <a:latin typeface="Georgia"/>
              </a:rPr>
              <a:t>Foundation models bring Earth-observation context to precision agriculture.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8EC167-E113-0E4B-A73A-A9698F20220A}"/>
              </a:ext>
            </a:extLst>
          </p:cNvPr>
          <p:cNvSpPr txBox="1"/>
          <p:nvPr/>
        </p:nvSpPr>
        <p:spPr>
          <a:xfrm>
            <a:off x="774700" y="3302000"/>
            <a:ext cx="76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2E4A66"/>
                </a:solidFill>
                <a:latin typeface="Georgia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5F56FA-E003-234A-9FF3-5D58248154E7}"/>
              </a:ext>
            </a:extLst>
          </p:cNvPr>
          <p:cNvSpPr/>
          <p:nvPr/>
        </p:nvSpPr>
        <p:spPr>
          <a:xfrm>
            <a:off x="774700" y="3835400"/>
            <a:ext cx="508000" cy="25400"/>
          </a:xfrm>
          <a:prstGeom prst="rect">
            <a:avLst/>
          </a:prstGeom>
          <a:solidFill>
            <a:srgbClr val="2E4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BB9D91-8E68-0A44-8F07-8EAF2CC74042}"/>
              </a:ext>
            </a:extLst>
          </p:cNvPr>
          <p:cNvSpPr txBox="1"/>
          <p:nvPr/>
        </p:nvSpPr>
        <p:spPr>
          <a:xfrm>
            <a:off x="774700" y="3987800"/>
            <a:ext cx="342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F2933"/>
                </a:solidFill>
                <a:latin typeface="Georgia"/>
              </a:rPr>
              <a:t>Pre-training beats from-scratch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39C85D-29B6-E94C-A8B9-74EACB5AAF47}"/>
              </a:ext>
            </a:extLst>
          </p:cNvPr>
          <p:cNvSpPr txBox="1"/>
          <p:nvPr/>
        </p:nvSpPr>
        <p:spPr>
          <a:xfrm>
            <a:off x="774700" y="4699000"/>
            <a:ext cx="3429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5260"/>
                </a:solidFill>
                <a:latin typeface="Calibri"/>
                <a:cs typeface="Calibri"/>
              </a:rPr>
              <a:t>Fine-tuning Prithvi-EO-2.0 outperforms 3D-CNN, DeepYield, and the same architecture trained from scratch on scarce high-res labels.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9E4C2E-3FE9-2040-B09C-13D097C2ACB5}"/>
              </a:ext>
            </a:extLst>
          </p:cNvPr>
          <p:cNvSpPr txBox="1"/>
          <p:nvPr/>
        </p:nvSpPr>
        <p:spPr>
          <a:xfrm>
            <a:off x="4381500" y="3302000"/>
            <a:ext cx="76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5C7A52"/>
                </a:solidFill>
                <a:latin typeface="Georgia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DE2E22-5A4D-804E-A874-E87B345CC03F}"/>
              </a:ext>
            </a:extLst>
          </p:cNvPr>
          <p:cNvSpPr/>
          <p:nvPr/>
        </p:nvSpPr>
        <p:spPr>
          <a:xfrm>
            <a:off x="4381500" y="3835400"/>
            <a:ext cx="508000" cy="25400"/>
          </a:xfrm>
          <a:prstGeom prst="rect">
            <a:avLst/>
          </a:prstGeom>
          <a:solidFill>
            <a:srgbClr val="5C7A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F939C1-65D8-DC49-AD83-9F37B2D714CD}"/>
              </a:ext>
            </a:extLst>
          </p:cNvPr>
          <p:cNvSpPr txBox="1"/>
          <p:nvPr/>
        </p:nvSpPr>
        <p:spPr>
          <a:xfrm>
            <a:off x="4381500" y="3987800"/>
            <a:ext cx="342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F2933"/>
                </a:solidFill>
                <a:latin typeface="Georgia"/>
              </a:rPr>
              <a:t>Continuous, pixel-level outputs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47BD06-7FC8-4A4D-B060-97A7C3289C8B}"/>
              </a:ext>
            </a:extLst>
          </p:cNvPr>
          <p:cNvSpPr txBox="1"/>
          <p:nvPr/>
        </p:nvSpPr>
        <p:spPr>
          <a:xfrm>
            <a:off x="4381500" y="4699000"/>
            <a:ext cx="3429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5260"/>
                </a:solidFill>
                <a:latin typeface="Calibri"/>
                <a:cs typeface="Calibri"/>
              </a:rPr>
              <a:t>Treating yield as regression (not classification) preserves intra-field heterogeneity — the signal precision agriculture needs.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EB8DCE-C9EB-8041-AB25-B077B97B562B}"/>
              </a:ext>
            </a:extLst>
          </p:cNvPr>
          <p:cNvSpPr txBox="1"/>
          <p:nvPr/>
        </p:nvSpPr>
        <p:spPr>
          <a:xfrm>
            <a:off x="7988300" y="3302000"/>
            <a:ext cx="76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B36A3E"/>
                </a:solidFill>
                <a:latin typeface="Georgia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AA7652-B035-5F47-BC72-CE43AE589D8B}"/>
              </a:ext>
            </a:extLst>
          </p:cNvPr>
          <p:cNvSpPr/>
          <p:nvPr/>
        </p:nvSpPr>
        <p:spPr>
          <a:xfrm>
            <a:off x="7988300" y="3835400"/>
            <a:ext cx="508000" cy="25400"/>
          </a:xfrm>
          <a:prstGeom prst="rect">
            <a:avLst/>
          </a:prstGeom>
          <a:solidFill>
            <a:srgbClr val="B36A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4AAF72-BB83-8C49-BAEF-0EFDA1492812}"/>
              </a:ext>
            </a:extLst>
          </p:cNvPr>
          <p:cNvSpPr txBox="1"/>
          <p:nvPr/>
        </p:nvSpPr>
        <p:spPr>
          <a:xfrm>
            <a:off x="7988300" y="3987800"/>
            <a:ext cx="342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F2933"/>
                </a:solidFill>
                <a:latin typeface="Georgia"/>
              </a:rPr>
              <a:t>Agronomically interpretable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46170C-DBE5-F545-859A-BCB4C043065E}"/>
              </a:ext>
            </a:extLst>
          </p:cNvPr>
          <p:cNvSpPr txBox="1"/>
          <p:nvPr/>
        </p:nvSpPr>
        <p:spPr>
          <a:xfrm>
            <a:off x="7988300" y="4699000"/>
            <a:ext cx="3429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5260"/>
                </a:solidFill>
                <a:latin typeface="Calibri"/>
                <a:cs typeface="Calibri"/>
              </a:rPr>
              <a:t>Attention concentrates on the flowering / pod-fill window and on NIR + SWIR bands — matching established crop physiology.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332DFF-68B9-4943-8318-B0822A31D5FD}"/>
              </a:ext>
            </a:extLst>
          </p:cNvPr>
          <p:cNvSpPr txBox="1"/>
          <p:nvPr/>
        </p:nvSpPr>
        <p:spPr>
          <a:xfrm>
            <a:off x="1016000" y="64770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i="1">
                <a:solidFill>
                  <a:srgbClr val="6B7280"/>
                </a:solidFill>
                <a:latin typeface="Calibri"/>
                <a:cs typeface="Calibri"/>
              </a:rPr>
              <a:t>Nejadshamsi, Zhang, Porth, Zaki, Porth &amp; Khoshdel — AgriEngineering 2026, 8(1), 2</a:t>
            </a:r>
          </a:p>
        </p:txBody>
      </p:sp>
    </p:spTree>
    <p:extLst>
      <p:ext uri="{BB962C8B-B14F-4D97-AF65-F5344CB8AC3E}">
        <p14:creationId xmlns:p14="http://schemas.microsoft.com/office/powerpoint/2010/main" val="33023552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ABD68-103E-697F-6E8F-7D6763092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962610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1755217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 [1781569887008]">
  <a:themeElements>
    <a:clrScheme name="Office">
      <a:dk1>
        <a:srgbClr val="1F2933"/>
      </a:dk1>
      <a:lt1>
        <a:srgbClr val="F7F4EE"/>
      </a:lt1>
      <a:dk2>
        <a:srgbClr val="2E4A66"/>
      </a:dk2>
      <a:lt2>
        <a:srgbClr val="E8E2D5"/>
      </a:lt2>
      <a:accent1>
        <a:srgbClr val="2E4A66"/>
      </a:accent1>
      <a:accent2>
        <a:srgbClr val="5C7A52"/>
      </a:accent2>
      <a:accent3>
        <a:srgbClr val="B36A3E"/>
      </a:accent3>
      <a:accent4>
        <a:srgbClr val="8A8578"/>
      </a:accent4>
      <a:accent5>
        <a:srgbClr val="446380"/>
      </a:accent5>
      <a:accent6>
        <a:srgbClr val="7A9070"/>
      </a:accent6>
      <a:hlink>
        <a:srgbClr val="467886"/>
      </a:hlink>
      <a:folHlink>
        <a:srgbClr val="96607D"/>
      </a:folHlink>
    </a:clrScheme>
    <a:fontScheme name="Offic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 [1781570425585]">
  <a:themeElements>
    <a:clrScheme name="Office">
      <a:dk1>
        <a:srgbClr val="1F2933"/>
      </a:dk1>
      <a:lt1>
        <a:srgbClr val="F7F4EE"/>
      </a:lt1>
      <a:dk2>
        <a:srgbClr val="2E4A66"/>
      </a:dk2>
      <a:lt2>
        <a:srgbClr val="E8E2D5"/>
      </a:lt2>
      <a:accent1>
        <a:srgbClr val="2E4A66"/>
      </a:accent1>
      <a:accent2>
        <a:srgbClr val="5C7A52"/>
      </a:accent2>
      <a:accent3>
        <a:srgbClr val="B36A3E"/>
      </a:accent3>
      <a:accent4>
        <a:srgbClr val="8A8578"/>
      </a:accent4>
      <a:accent5>
        <a:srgbClr val="446380"/>
      </a:accent5>
      <a:accent6>
        <a:srgbClr val="7A9070"/>
      </a:accent6>
      <a:hlink>
        <a:srgbClr val="467886"/>
      </a:hlink>
      <a:folHlink>
        <a:srgbClr val="96607D"/>
      </a:folHlink>
    </a:clrScheme>
    <a:fontScheme name="Offic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 [1781570464952]">
  <a:themeElements>
    <a:clrScheme name="Office">
      <a:dk1>
        <a:srgbClr val="1F2933"/>
      </a:dk1>
      <a:lt1>
        <a:srgbClr val="F7F4EE"/>
      </a:lt1>
      <a:dk2>
        <a:srgbClr val="2E4A66"/>
      </a:dk2>
      <a:lt2>
        <a:srgbClr val="E8E2D5"/>
      </a:lt2>
      <a:accent1>
        <a:srgbClr val="2E4A66"/>
      </a:accent1>
      <a:accent2>
        <a:srgbClr val="5C7A52"/>
      </a:accent2>
      <a:accent3>
        <a:srgbClr val="B36A3E"/>
      </a:accent3>
      <a:accent4>
        <a:srgbClr val="8A8578"/>
      </a:accent4>
      <a:accent5>
        <a:srgbClr val="446380"/>
      </a:accent5>
      <a:accent6>
        <a:srgbClr val="7A9070"/>
      </a:accent6>
      <a:hlink>
        <a:srgbClr val="467886"/>
      </a:hlink>
      <a:folHlink>
        <a:srgbClr val="96607D"/>
      </a:folHlink>
    </a:clrScheme>
    <a:fontScheme name="Offic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6625317-3849-D74A-AB6D-C1D30B64E3D1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3764b560-4f80-4e74-b088-041c82f1b1c4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b19c134a-14c9-4d4c-af65-c420f94c8cbb}" enabled="0" method="" siteId="{b19c134a-14c9-4d4c-af65-c420f94c8cb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1308</TotalTime>
  <Words>1265</Words>
  <Application>Microsoft Macintosh PowerPoint</Application>
  <PresentationFormat>Widescreen</PresentationFormat>
  <Paragraphs>157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Georgia</vt:lpstr>
      <vt:lpstr>Office Theme</vt:lpstr>
      <vt:lpstr>Office Theme [1781569887008]</vt:lpstr>
      <vt:lpstr>Office Theme</vt:lpstr>
      <vt:lpstr>Office Theme [1781570425585]</vt:lpstr>
      <vt:lpstr>Office Theme [1781570464952]</vt:lpstr>
      <vt:lpstr>FARM: Crop Yield Prediction via Regression on Prithvi's Encoder for Satellite Sensing</vt:lpstr>
      <vt:lpstr>Paper at a glance</vt:lpstr>
      <vt:lpstr>Introduction — the gap FARM addresses</vt:lpstr>
      <vt:lpstr>Methodology — Data</vt:lpstr>
      <vt:lpstr>Methodology — FARM architecture</vt:lpstr>
      <vt:lpstr>Methodology — FARM architecture</vt:lpstr>
      <vt:lpstr>Training objective &amp; evaluation</vt:lpstr>
      <vt:lpstr>Results — FARM vs. baselines on the validation set</vt:lpstr>
      <vt:lpstr>Transfer learning works — and the model learns agronomy</vt:lpstr>
      <vt:lpstr>Limitations &amp; proposed solutions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Ranjit, Samar</dc:creator>
  <cp:lastModifiedBy>Ranjit, Samar</cp:lastModifiedBy>
  <cp:revision>4</cp:revision>
  <dcterms:created xsi:type="dcterms:W3CDTF">2026-06-15T21:31:18Z</dcterms:created>
  <dcterms:modified xsi:type="dcterms:W3CDTF">2026-06-16T19:19:35Z</dcterms:modified>
</cp:coreProperties>
</file>